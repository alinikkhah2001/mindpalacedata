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4001" r:id="rId2"/>
    <p:sldId id="257" r:id="rId3"/>
    <p:sldId id="4002" r:id="rId4"/>
    <p:sldId id="4004" r:id="rId5"/>
    <p:sldId id="4005" r:id="rId6"/>
    <p:sldId id="4006" r:id="rId7"/>
    <p:sldId id="4003" r:id="rId8"/>
    <p:sldId id="4007" r:id="rId9"/>
    <p:sldId id="4008" r:id="rId10"/>
    <p:sldId id="4011" r:id="rId11"/>
    <p:sldId id="4009" r:id="rId12"/>
    <p:sldId id="4010" r:id="rId13"/>
    <p:sldId id="4012" r:id="rId14"/>
    <p:sldId id="4026" r:id="rId15"/>
    <p:sldId id="4025" r:id="rId16"/>
    <p:sldId id="4016" r:id="rId17"/>
    <p:sldId id="4017" r:id="rId18"/>
    <p:sldId id="4018" r:id="rId19"/>
    <p:sldId id="4019" r:id="rId20"/>
    <p:sldId id="4020" r:id="rId21"/>
    <p:sldId id="4021" r:id="rId22"/>
    <p:sldId id="4022" r:id="rId23"/>
    <p:sldId id="4023" r:id="rId24"/>
    <p:sldId id="4024" r:id="rId25"/>
    <p:sldId id="4027" r:id="rId26"/>
    <p:sldId id="4029" r:id="rId27"/>
    <p:sldId id="4028" r:id="rId28"/>
    <p:sldId id="4030" r:id="rId29"/>
    <p:sldId id="4031" r:id="rId30"/>
    <p:sldId id="4032" r:id="rId31"/>
    <p:sldId id="4033" r:id="rId32"/>
    <p:sldId id="403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784" userDrawn="1">
          <p15:clr>
            <a:srgbClr val="A4A3A4"/>
          </p15:clr>
        </p15:guide>
        <p15:guide id="4" orient="horz" pos="1992" userDrawn="1">
          <p15:clr>
            <a:srgbClr val="A4A3A4"/>
          </p15:clr>
        </p15:guide>
        <p15:guide id="5" orient="horz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254C"/>
    <a:srgbClr val="910047"/>
    <a:srgbClr val="F9F9F7"/>
    <a:srgbClr val="FFFFFF"/>
    <a:srgbClr val="6E0035"/>
    <a:srgbClr val="7097C3"/>
    <a:srgbClr val="0A3E7F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1041" autoAdjust="0"/>
  </p:normalViewPr>
  <p:slideViewPr>
    <p:cSldViewPr snapToGrid="0" showGuides="1">
      <p:cViewPr varScale="1">
        <p:scale>
          <a:sx n="97" d="100"/>
          <a:sy n="97" d="100"/>
        </p:scale>
        <p:origin x="954" y="84"/>
      </p:cViewPr>
      <p:guideLst>
        <p:guide orient="horz" pos="1320"/>
        <p:guide pos="3840"/>
        <p:guide orient="horz" pos="2784"/>
        <p:guide orient="horz" pos="1992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D76B-C051-43AE-A2B5-6300968AD15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E8CA5-A573-4033-A735-8206C862F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9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9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lnSpc>
                <a:spcPct val="150000"/>
              </a:lnSpc>
            </a:pPr>
            <a:endParaRPr lang="en-US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0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90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05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4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6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12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71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6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10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29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55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76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70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8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52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08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10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452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31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11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37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94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094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74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941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719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409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E8CA5-A573-4033-A735-8206C862F47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0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39DE-4872-4022-403C-3729999FC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6E2FF-B1AC-C6F3-C953-4C665EC28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06D27-ECB9-493B-16E8-62F6280B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2B293-9BCE-EC4F-53EB-8E6CCF4E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7599-927A-78E3-B3DF-3FBAC2E0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6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4278-4EEA-297A-D02C-B6B3397C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A89A-3448-8893-0D04-1C6B4890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41533-C8D2-C841-6C52-6938E485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ABA82-126F-63FC-747F-7FD5BCF1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F9438-7297-92B4-D95D-91398A78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5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8F3F-848E-DE5A-A884-0BBAB42C8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C2912-B777-A410-4B69-5A72869B8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CC06C-4476-6B67-E953-A2C7E382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1CCA6-2051-8BFA-C468-B18CDA8A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1FA26-8A00-F33C-187B-0A18CFF8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1250-0E1A-0C76-4DEF-19F26403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A9C6-9910-B0B0-B1AE-C3976CDA1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4929A-B9AE-5F03-E7B6-595C7CCAB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B285A-E375-B90C-952F-82C40D8C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B497D-2E16-492D-E173-6CB97FE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67337-FC03-0153-2543-D13C6E1F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3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A866-2482-D240-7DEF-EE61FE5F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D32B0-8429-8744-5EAD-624E5A109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314C3-3D52-07DC-3684-B03ADD6E7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F6B90-AB0A-D508-68BC-2913E145A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56C0C-A142-0650-A7E3-67E4FFD28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E7AB9-E0E3-6E96-ED72-EE542391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2AD13-2DDE-F2C7-E3FA-814C48D1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D056D-4A96-830D-C644-10D498E9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2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BFF0-8629-2641-7E7B-4575AA27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01E54-3EB4-EF63-1727-EF0CE437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D4A4B-D935-98B7-154C-CE9F7ED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974C7-9479-DFCA-378F-D08611BB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0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C8275-241C-55FD-70C1-8E341F2D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014C7-5BE8-232A-C100-51C82A2C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93BB-D4D9-6CD5-581B-6BB36682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5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FE60-10F4-505F-7342-23394F0B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E9E6-75FA-87BD-04D5-76EFB657E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BEC21-C9D5-8F98-D8FC-D7CC517D9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7BC61-8997-B6C8-AA48-49D877F8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2C61D-5FFD-5051-13E9-E9E59FBE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4AA40-95FF-DB29-147B-E11976B0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64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A821-43A7-49E0-0488-89F13D26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CD1253-BCCE-7B4F-F1D8-437118184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72BA7-BD7C-B4F9-4F19-02B93668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843BB-6FC7-8297-A71B-E5CAEB37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1C13A-7057-F9EC-2313-C3A1A5B3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5D89F-0BC5-4CB1-5F21-38E120B5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8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979B-D8F3-65A4-A640-8E07D89B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C0B27-DE9E-8026-0618-C70F8571D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1B829-87E9-A574-1C83-0E7E390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848C5-465D-2E1B-950F-A6A0A8758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9D7F6-DD26-137E-DE5E-42569DBA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7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908BF-7EC3-C930-010F-691403889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C8EAB-AB4C-D59A-9BC8-9AE9F57D4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12CCC-3C0B-54C4-8424-BFDC2AD8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232269-F704-4669-AA96-D68162B48E13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880E-5222-91DB-703D-87D9701C8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58AB4-36B8-60F7-1FC3-CFD3B39D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F25CE8-1205-4A68-BE22-896A8DF73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98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9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C39DAE9-7261-4C10-2F1F-253E1B65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235"/>
            <a:ext cx="10515600" cy="534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1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عنوان اسلاید-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Yekan Bakh Black</a:t>
            </a: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 </a:t>
            </a:r>
            <a:r>
              <a: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B Titr" panose="00000700000000000000" pitchFamily="2" charset="-78"/>
              </a:rPr>
              <a:t>سایز 24</a:t>
            </a:r>
            <a:endParaRPr kumimoji="0" lang="fa-I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Titr" panose="00000700000000000000" pitchFamily="2" charset="-78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7121E9-D1F2-D3AE-68CB-C5F9CC46C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8678"/>
            <a:ext cx="10515600" cy="4118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a-IR" dirty="0"/>
              <a:t>متن پیش فرض داخل کادرها و چارت ها با فونت </a:t>
            </a:r>
            <a:r>
              <a:rPr lang="en-US" dirty="0"/>
              <a:t>Yekan Bakh</a:t>
            </a:r>
            <a:r>
              <a:rPr lang="fa-IR" dirty="0"/>
              <a:t>سایز 16 نوشته می‌شود.</a:t>
            </a:r>
          </a:p>
          <a:p>
            <a:pPr lvl="0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167F87-ADB6-311B-1DC2-59C54F2A37A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65" t="1" r="4583" b="23848"/>
          <a:stretch/>
        </p:blipFill>
        <p:spPr>
          <a:xfrm rot="5400000">
            <a:off x="7123022" y="1860417"/>
            <a:ext cx="257175" cy="928351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2B1AE70-C9D7-3D87-C1A4-5A6D48946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8631" y="6352475"/>
            <a:ext cx="2206444" cy="27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baseline="0">
          <a:solidFill>
            <a:schemeClr val="tx1"/>
          </a:solidFill>
          <a:latin typeface="w_Ray Extra Black" panose="02000500000000020004" pitchFamily="2" charset="-78"/>
          <a:ea typeface="w_Ray Extra Black" panose="02000500000000020004" pitchFamily="2" charset="-78"/>
          <a:cs typeface="w_Ray Extra Black" panose="02000500000000020004" pitchFamily="2" charset="-78"/>
        </a:defRPr>
      </a:lvl1pPr>
    </p:titleStyle>
    <p:bodyStyle>
      <a:lvl1pPr marL="0" indent="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w_Ray" panose="02000500000000020004" pitchFamily="2" charset="-78"/>
          <a:ea typeface="w_Ray" panose="02000500000000020004" pitchFamily="2" charset="-78"/>
          <a:cs typeface="w_Ray" panose="02000500000000020004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8.png"/><Relationship Id="rId5" Type="http://schemas.microsoft.com/office/2007/relationships/hdphoto" Target="../media/hdphoto1.wdp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8.png"/><Relationship Id="rId5" Type="http://schemas.microsoft.com/office/2007/relationships/hdphoto" Target="../media/hdphoto1.wdp"/><Relationship Id="rId10" Type="http://schemas.microsoft.com/office/2007/relationships/hdphoto" Target="../media/hdphoto3.wdp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559288C5-D0C2-51B7-3DCA-70DF59E01A1E}"/>
              </a:ext>
            </a:extLst>
          </p:cNvPr>
          <p:cNvSpPr/>
          <p:nvPr/>
        </p:nvSpPr>
        <p:spPr>
          <a:xfrm>
            <a:off x="304801" y="272716"/>
            <a:ext cx="11582400" cy="6336631"/>
          </a:xfrm>
          <a:prstGeom prst="snip2Diag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B20FA-652E-7ECE-5384-80EEB283DAA2}"/>
              </a:ext>
            </a:extLst>
          </p:cNvPr>
          <p:cNvSpPr/>
          <p:nvPr/>
        </p:nvSpPr>
        <p:spPr>
          <a:xfrm>
            <a:off x="0" y="2519370"/>
            <a:ext cx="12192000" cy="1944914"/>
          </a:xfrm>
          <a:prstGeom prst="rect">
            <a:avLst/>
          </a:prstGeom>
          <a:solidFill>
            <a:srgbClr val="910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AF2CEB-8F77-8E3A-BE73-CE85B36A111B}"/>
              </a:ext>
            </a:extLst>
          </p:cNvPr>
          <p:cNvSpPr/>
          <p:nvPr/>
        </p:nvSpPr>
        <p:spPr>
          <a:xfrm>
            <a:off x="3002483" y="2901196"/>
            <a:ext cx="6187033" cy="1055608"/>
          </a:xfrm>
          <a:prstGeom prst="roundRect">
            <a:avLst/>
          </a:prstGeom>
          <a:solidFill>
            <a:srgbClr val="F8F8F8"/>
          </a:solidFill>
          <a:ln>
            <a:solidFill>
              <a:srgbClr val="D6D6D6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800" dirty="0">
                <a:latin typeface="w_Ray Extra Black" panose="02000500000000020004" pitchFamily="2" charset="-78"/>
                <a:ea typeface="w_Ray Extra Black" panose="02000500000000020004" pitchFamily="2" charset="-78"/>
                <a:cs typeface="w_Ray Extra Black" panose="02000500000000020004" pitchFamily="2" charset="-78"/>
              </a:rPr>
              <a:t>تحلیل </a:t>
            </a:r>
            <a:r>
              <a:rPr lang="fa-IR" sz="2800" dirty="0" err="1">
                <a:latin typeface="w_Ray Extra Black" panose="02000500000000020004" pitchFamily="2" charset="-78"/>
                <a:ea typeface="w_Ray Extra Black" panose="02000500000000020004" pitchFamily="2" charset="-78"/>
                <a:cs typeface="w_Ray Extra Black" panose="02000500000000020004" pitchFamily="2" charset="-78"/>
              </a:rPr>
              <a:t>محدودیت‌ها</a:t>
            </a:r>
            <a:r>
              <a:rPr lang="fa-IR" sz="2800" dirty="0">
                <a:latin typeface="w_Ray Extra Black" panose="02000500000000020004" pitchFamily="2" charset="-78"/>
                <a:ea typeface="w_Ray Extra Black" panose="02000500000000020004" pitchFamily="2" charset="-78"/>
                <a:cs typeface="w_Ray Extra Black" panose="02000500000000020004" pitchFamily="2" charset="-78"/>
              </a:rPr>
              <a:t> و </a:t>
            </a:r>
            <a:r>
              <a:rPr lang="fa-IR" sz="2800" dirty="0" err="1">
                <a:latin typeface="w_Ray Extra Black" panose="02000500000000020004" pitchFamily="2" charset="-78"/>
                <a:ea typeface="w_Ray Extra Black" panose="02000500000000020004" pitchFamily="2" charset="-78"/>
                <a:cs typeface="w_Ray Extra Black" panose="02000500000000020004" pitchFamily="2" charset="-78"/>
              </a:rPr>
              <a:t>چالش‌های</a:t>
            </a:r>
            <a:r>
              <a:rPr lang="fa-IR" sz="2800" dirty="0">
                <a:latin typeface="w_Ray Extra Black" panose="02000500000000020004" pitchFamily="2" charset="-78"/>
                <a:ea typeface="w_Ray Extra Black" panose="02000500000000020004" pitchFamily="2" charset="-78"/>
                <a:cs typeface="w_Ray Extra Black" panose="02000500000000020004" pitchFamily="2" charset="-78"/>
              </a:rPr>
              <a:t> انتخاب مدل زبانی محلی</a:t>
            </a:r>
            <a:endParaRPr kumimoji="0" lang="fa-IR" sz="2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w_Ray Extra Black" panose="02000500000000020004" pitchFamily="2" charset="-78"/>
              <a:ea typeface="w_Ray Extra Black" panose="02000500000000020004" pitchFamily="2" charset="-78"/>
              <a:cs typeface="w_Ray Extra Black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9670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14F98-35D0-4A63-F5AA-82A1CE2C881B}"/>
              </a:ext>
            </a:extLst>
          </p:cNvPr>
          <p:cNvSpPr txBox="1"/>
          <p:nvPr/>
        </p:nvSpPr>
        <p:spPr>
          <a:xfrm>
            <a:off x="6096000" y="1053255"/>
            <a:ext cx="5141206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1800" b="1" i="0" u="none" strike="noStrike" dirty="0">
                <a:solidFill>
                  <a:srgbClr val="000000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ارزیابی فنی انتخاب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LLM </a:t>
            </a:r>
            <a:r>
              <a:rPr lang="fa-IR" sz="1800" b="1" i="0" u="none" strike="noStrike" dirty="0">
                <a:solidFill>
                  <a:srgbClr val="000000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برای استقرار </a:t>
            </a:r>
            <a:r>
              <a:rPr lang="fa-IR" sz="1800" b="1" i="0" u="none" strike="noStrike" dirty="0" err="1">
                <a:solidFill>
                  <a:srgbClr val="000000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آفلاین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شفاف‌سازی</a:t>
            </a:r>
            <a:r>
              <a:rPr lang="fa-IR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پیچیدگی‌های</a:t>
            </a:r>
            <a:r>
              <a:rPr lang="fa-IR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فنی و ابعاد </a:t>
            </a:r>
            <a:endParaRPr lang="en-US" b="1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667C1B89-B550-06BC-0D87-DDEDBE2066CD}"/>
              </a:ext>
            </a:extLst>
          </p:cNvPr>
          <p:cNvSpPr/>
          <p:nvPr/>
        </p:nvSpPr>
        <p:spPr>
          <a:xfrm>
            <a:off x="1179143" y="3583474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>
              <a:defRPr/>
            </a:pPr>
            <a:r>
              <a:rPr lang="fa-IR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هیچ </a:t>
            </a:r>
            <a:r>
              <a:rPr lang="fa-IR" b="1" kern="0" dirty="0" err="1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داده‌ای</a:t>
            </a:r>
            <a:r>
              <a:rPr lang="fa-IR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محیط سازمان خارج نشود</a:t>
            </a:r>
            <a:endParaRPr kumimoji="0" lang="fa-IR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65336918-0786-2F23-4737-8248AAF9A3F4}"/>
              </a:ext>
            </a:extLst>
          </p:cNvPr>
          <p:cNvSpPr/>
          <p:nvPr/>
        </p:nvSpPr>
        <p:spPr>
          <a:xfrm>
            <a:off x="1183342" y="4287682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>
              <a:defRPr/>
            </a:pPr>
            <a:r>
              <a:rPr lang="fa-IR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 بر روی سرورهای داخلی</a:t>
            </a:r>
            <a:endParaRPr kumimoji="0" lang="fa-IR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3" name="Rounded Rectangle 6">
            <a:hlinkClick r:id="" action="ppaction://noaction"/>
            <a:extLst>
              <a:ext uri="{FF2B5EF4-FFF2-40B4-BE49-F238E27FC236}">
                <a16:creationId xmlns:a16="http://schemas.microsoft.com/office/drawing/2014/main" id="{77E256A6-1A1A-01AA-FF56-2CC4BCBAACD6}"/>
              </a:ext>
            </a:extLst>
          </p:cNvPr>
          <p:cNvSpPr/>
          <p:nvPr/>
        </p:nvSpPr>
        <p:spPr>
          <a:xfrm>
            <a:off x="7906291" y="3583474"/>
            <a:ext cx="2320943" cy="581381"/>
          </a:xfrm>
          <a:prstGeom prst="roundRect">
            <a:avLst/>
          </a:prstGeom>
          <a:solidFill>
            <a:srgbClr val="9100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اجرای کاملاً </a:t>
            </a:r>
            <a:r>
              <a:rPr lang="fa-IR" b="1" kern="0" dirty="0" err="1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آفلاین</a:t>
            </a:r>
            <a:endParaRPr lang="en-US" b="1" kern="0" dirty="0">
              <a:solidFill>
                <a:srgbClr val="FFFFFF"/>
              </a:solidFill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4" name="Rounded Rectangle 6">
            <a:hlinkClick r:id="" action="ppaction://noaction"/>
            <a:extLst>
              <a:ext uri="{FF2B5EF4-FFF2-40B4-BE49-F238E27FC236}">
                <a16:creationId xmlns:a16="http://schemas.microsoft.com/office/drawing/2014/main" id="{C650D23F-B855-BD82-7F0B-F3AA5E19F6B6}"/>
              </a:ext>
            </a:extLst>
          </p:cNvPr>
          <p:cNvSpPr/>
          <p:nvPr/>
        </p:nvSpPr>
        <p:spPr>
          <a:xfrm>
            <a:off x="7906291" y="4287682"/>
            <a:ext cx="2320943" cy="581381"/>
          </a:xfrm>
          <a:prstGeom prst="roundRect">
            <a:avLst/>
          </a:prstGeom>
          <a:solidFill>
            <a:srgbClr val="9100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b="1" kern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استقرار </a:t>
            </a:r>
            <a:r>
              <a:rPr lang="fa-IR" b="1" kern="0" dirty="0" err="1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endParaRPr lang="en-US" b="1" kern="0" dirty="0">
              <a:solidFill>
                <a:srgbClr val="FFFFFF"/>
              </a:solidFill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5" name="Rounded Rectangle 6">
            <a:hlinkClick r:id="" action="ppaction://noaction"/>
            <a:extLst>
              <a:ext uri="{FF2B5EF4-FFF2-40B4-BE49-F238E27FC236}">
                <a16:creationId xmlns:a16="http://schemas.microsoft.com/office/drawing/2014/main" id="{490A6A4F-F4EF-FC74-F675-2368F0C7906C}"/>
              </a:ext>
            </a:extLst>
          </p:cNvPr>
          <p:cNvSpPr/>
          <p:nvPr/>
        </p:nvSpPr>
        <p:spPr>
          <a:xfrm>
            <a:off x="7906291" y="4966379"/>
            <a:ext cx="2320943" cy="581381"/>
          </a:xfrm>
          <a:prstGeom prst="roundRect">
            <a:avLst/>
          </a:prstGeom>
          <a:solidFill>
            <a:srgbClr val="9100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حفاظت از </a:t>
            </a:r>
            <a:r>
              <a:rPr lang="fa-IR" b="1" kern="0" dirty="0" err="1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داده‌های</a:t>
            </a:r>
            <a:r>
              <a:rPr lang="fa-IR" b="1" kern="0" dirty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حساس</a:t>
            </a:r>
            <a:endParaRPr lang="en-US" b="1" kern="0" dirty="0">
              <a:solidFill>
                <a:srgbClr val="FFFFFF"/>
              </a:solidFill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4704FC29-5B57-A92A-B8E8-5E02AA03CD8A}"/>
              </a:ext>
            </a:extLst>
          </p:cNvPr>
          <p:cNvSpPr/>
          <p:nvPr/>
        </p:nvSpPr>
        <p:spPr>
          <a:xfrm>
            <a:off x="1187541" y="4966379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>
              <a:defRPr/>
            </a:pPr>
            <a:r>
              <a:rPr lang="fa-IR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اطلاعات شرکت و مشتریان</a:t>
            </a:r>
            <a:endParaRPr kumimoji="0" lang="fa-IR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5CCD23F4-C65C-072B-33AF-42901245CAC0}"/>
              </a:ext>
            </a:extLst>
          </p:cNvPr>
          <p:cNvSpPr/>
          <p:nvPr/>
        </p:nvSpPr>
        <p:spPr>
          <a:xfrm>
            <a:off x="7912789" y="3076640"/>
            <a:ext cx="2320943" cy="352359"/>
          </a:xfrm>
          <a:prstGeom prst="roundRect">
            <a:avLst/>
          </a:prstGeom>
          <a:solidFill>
            <a:srgbClr val="6E0035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الزام</a:t>
            </a:r>
            <a:endParaRPr lang="en-US" b="1" kern="0" dirty="0">
              <a:solidFill>
                <a:srgbClr val="FFFFFF"/>
              </a:solidFill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B8059A03-01A0-7517-D4CB-8CA6A7C05781}"/>
              </a:ext>
            </a:extLst>
          </p:cNvPr>
          <p:cNvSpPr/>
          <p:nvPr/>
        </p:nvSpPr>
        <p:spPr>
          <a:xfrm>
            <a:off x="1175295" y="3076641"/>
            <a:ext cx="6328937" cy="352359"/>
          </a:xfrm>
          <a:prstGeom prst="roundRect">
            <a:avLst/>
          </a:prstGeom>
          <a:solidFill>
            <a:srgbClr val="6E0035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توضیح</a:t>
            </a:r>
            <a:endParaRPr lang="en-US" b="1" kern="0" dirty="0">
              <a:solidFill>
                <a:srgbClr val="FFFFFF"/>
              </a:solidFill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3789FE-BEF4-7B5A-E400-7B740205B2D1}"/>
              </a:ext>
            </a:extLst>
          </p:cNvPr>
          <p:cNvSpPr txBox="1"/>
          <p:nvPr/>
        </p:nvSpPr>
        <p:spPr>
          <a:xfrm>
            <a:off x="3774141" y="2475823"/>
            <a:ext cx="7469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0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راه‌اندازی</a:t>
            </a:r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20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چت‌بات</a:t>
            </a:r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سازمانی برای پاسخگویی به </a:t>
            </a:r>
            <a:r>
              <a:rPr lang="fa-IR" sz="20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پرسش‌های</a:t>
            </a:r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تخصصی </a:t>
            </a:r>
            <a:r>
              <a:rPr lang="fa-IR" sz="20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اعتبارسنجی</a:t>
            </a:r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مالی</a:t>
            </a:r>
            <a:endParaRPr lang="en-US" sz="2000" b="1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8247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448ABEE9-BF68-639E-F3D4-209417FE65C2}"/>
              </a:ext>
            </a:extLst>
          </p:cNvPr>
          <p:cNvSpPr/>
          <p:nvPr/>
        </p:nvSpPr>
        <p:spPr>
          <a:xfrm>
            <a:off x="5278659" y="4548745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rtl="1">
              <a:defRPr/>
            </a:pPr>
            <a:r>
              <a:rPr lang="fa-IR" sz="1600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امکان استفاده از </a:t>
            </a:r>
            <a:r>
              <a:rPr lang="fa-IR" sz="1600" b="1" kern="0" dirty="0" err="1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600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بسیار بزرگ </a:t>
            </a:r>
            <a:r>
              <a:rPr lang="ar-SA" altLang="en-US" sz="1600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(</a:t>
            </a:r>
            <a:r>
              <a:rPr lang="ar-SA" altLang="en-US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مانند </a:t>
            </a:r>
            <a:r>
              <a:rPr lang="en-US" altLang="en-US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Kimi</a:t>
            </a:r>
            <a:r>
              <a:rPr lang="ar-SA" altLang="en-US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با </a:t>
            </a:r>
            <a:r>
              <a:rPr lang="fa-IR" altLang="en-US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۲۴۰۰</a:t>
            </a:r>
            <a:r>
              <a:rPr lang="ar-SA" altLang="en-US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میلیارد پارامتر</a:t>
            </a:r>
            <a:r>
              <a:rPr lang="ar-SA" altLang="en-US" sz="1600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 وجود ندارد</a:t>
            </a:r>
            <a:endParaRPr lang="en-US" altLang="en-US" sz="1600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AEDC6033-5ADB-E473-37C6-4240854E6E85}"/>
              </a:ext>
            </a:extLst>
          </p:cNvPr>
          <p:cNvSpPr/>
          <p:nvPr/>
        </p:nvSpPr>
        <p:spPr>
          <a:xfrm>
            <a:off x="5282858" y="5252953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>
              <a:defRPr/>
            </a:pPr>
            <a:r>
              <a:rPr lang="fa-IR" b="1" kern="0" dirty="0">
                <a:solidFill>
                  <a:schemeClr val="bg2">
                    <a:lumMod val="25000"/>
                  </a:schemeClr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سقف پارامتر: حدود ~۳۰ میلیارد</a:t>
            </a:r>
            <a:endParaRPr kumimoji="0" lang="fa-IR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DC28A10F-A5EA-9697-FF86-817701D23E90}"/>
              </a:ext>
            </a:extLst>
          </p:cNvPr>
          <p:cNvSpPr/>
          <p:nvPr/>
        </p:nvSpPr>
        <p:spPr>
          <a:xfrm>
            <a:off x="5274811" y="4041912"/>
            <a:ext cx="6328937" cy="352359"/>
          </a:xfrm>
          <a:prstGeom prst="roundRect">
            <a:avLst/>
          </a:prstGeom>
          <a:solidFill>
            <a:srgbClr val="6E0035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rtl="1"/>
            <a:r>
              <a:rPr lang="fa-IR" b="1" kern="0" dirty="0">
                <a:solidFill>
                  <a:srgbClr val="FFFFFF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محدودیت اصلی</a:t>
            </a:r>
          </a:p>
        </p:txBody>
      </p:sp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992A6E2A-ED9A-0F80-FEEA-94C95E1CC4FE}"/>
              </a:ext>
            </a:extLst>
          </p:cNvPr>
          <p:cNvSpPr/>
          <p:nvPr/>
        </p:nvSpPr>
        <p:spPr>
          <a:xfrm>
            <a:off x="5270612" y="1726033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a-I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۲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×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NVIDIA H200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(هر کدام </a:t>
            </a:r>
            <a:r>
              <a:rPr kumimoji="0" lang="fa-I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۱۴۱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GB HBM3e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</p:txBody>
      </p:sp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ABD7650B-A001-32B2-6BF3-D9BC38EAFC95}"/>
              </a:ext>
            </a:extLst>
          </p:cNvPr>
          <p:cNvSpPr/>
          <p:nvPr/>
        </p:nvSpPr>
        <p:spPr>
          <a:xfrm>
            <a:off x="5274811" y="2430241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۱</a:t>
            </a:r>
            <a:r>
              <a:rPr lang="ar-SA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کارت → محیط توسعه (</a:t>
            </a:r>
            <a:r>
              <a:rPr lang="en-US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Dev</a:t>
            </a:r>
            <a:r>
              <a:rPr lang="ar-SA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20B5282B-5728-9218-07C5-CDC922E4D618}"/>
              </a:ext>
            </a:extLst>
          </p:cNvPr>
          <p:cNvSpPr/>
          <p:nvPr/>
        </p:nvSpPr>
        <p:spPr>
          <a:xfrm>
            <a:off x="5266764" y="1219200"/>
            <a:ext cx="6328937" cy="352359"/>
          </a:xfrm>
          <a:prstGeom prst="roundRect">
            <a:avLst/>
          </a:prstGeom>
          <a:solidFill>
            <a:srgbClr val="06254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fa-IR" b="1" kern="0" dirty="0" err="1">
                <a:solidFill>
                  <a:schemeClr val="bg1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سخت‌افزار</a:t>
            </a:r>
            <a:r>
              <a:rPr lang="fa-IR" b="1" kern="0" dirty="0">
                <a:solidFill>
                  <a:schemeClr val="bg1"/>
                </a:solidFill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موجود</a:t>
            </a:r>
          </a:p>
        </p:txBody>
      </p:sp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D304D056-224B-F751-FF6A-3C904021ECF6}"/>
              </a:ext>
            </a:extLst>
          </p:cNvPr>
          <p:cNvSpPr/>
          <p:nvPr/>
        </p:nvSpPr>
        <p:spPr>
          <a:xfrm>
            <a:off x="5274811" y="3130855"/>
            <a:ext cx="6316692" cy="581381"/>
          </a:xfrm>
          <a:prstGeom prst="roundRect">
            <a:avLst/>
          </a:prstGeom>
          <a:solidFill>
            <a:srgbClr val="EAEAE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a-IR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۱</a:t>
            </a:r>
            <a:r>
              <a:rPr lang="ar-SA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کارت → محیط عملیات (</a:t>
            </a:r>
            <a:r>
              <a:rPr lang="en-US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Production</a:t>
            </a:r>
            <a:r>
              <a:rPr lang="ar-SA" alt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FB53A29-EE31-36CE-2785-FAAB14164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96" y="1084730"/>
            <a:ext cx="4412745" cy="454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2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  <p:bldP spid="22" grpId="0" animBg="1"/>
      <p:bldP spid="23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1C843-E09C-284A-FD3C-9D75E2E43D67}"/>
              </a:ext>
            </a:extLst>
          </p:cNvPr>
          <p:cNvSpPr txBox="1"/>
          <p:nvPr/>
        </p:nvSpPr>
        <p:spPr>
          <a:xfrm>
            <a:off x="5255822" y="137100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مفاهیم کلیدی در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مدل‌های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زبانی — پارامتر،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کوانتیزاسیون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، 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KV-Cache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B887A-D452-C7EE-0938-3EB8708EB711}"/>
              </a:ext>
            </a:extLst>
          </p:cNvPr>
          <p:cNvSpPr txBox="1"/>
          <p:nvPr/>
        </p:nvSpPr>
        <p:spPr>
          <a:xfrm>
            <a:off x="5949538" y="2026604"/>
            <a:ext cx="540426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 (</a:t>
            </a:r>
            <a:r>
              <a:rPr lang="en-US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Parameter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تعداد «اعداد قابل تنظیم» در مدل که در طول آموزش یاد گرفته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مانند ظرفیت حافظه و دانش مدل: هرچه تعداد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پارامترها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بیشتر باشد، مدل توانایی بیشتری برای درک زبان و تولید پاسخ دقیق دارد.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بزرگ مانند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Kimi (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۲۴۰۰ میلیارد پارامتر) بسیار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قدرتمندند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اما به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سخت‌افزار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عظیم نیاز دارند.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محدودیت ما: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سخت‌افزار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موجود (یک کارت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تولید) فقط اجازه اجرای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با حداکثر حدود ۳۰ میلیارد پارامتر را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می‌دهد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93A3B-0493-FDCF-CD57-24021D205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1" y="2334176"/>
            <a:ext cx="4983721" cy="258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8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1C843-E09C-284A-FD3C-9D75E2E43D67}"/>
              </a:ext>
            </a:extLst>
          </p:cNvPr>
          <p:cNvSpPr txBox="1"/>
          <p:nvPr/>
        </p:nvSpPr>
        <p:spPr>
          <a:xfrm>
            <a:off x="5255822" y="137100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مفاهیم کلیدی در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مدل‌های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زبانی — پارامتر،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کوانتیزاسیون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، 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KV-Cache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B887A-D452-C7EE-0938-3EB8708EB711}"/>
              </a:ext>
            </a:extLst>
          </p:cNvPr>
          <p:cNvSpPr txBox="1"/>
          <p:nvPr/>
        </p:nvSpPr>
        <p:spPr>
          <a:xfrm>
            <a:off x="6096000" y="2026604"/>
            <a:ext cx="52578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Quantization)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  <a:endParaRPr lang="en-US" sz="1600" b="1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کاهش دقت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ذخیره‌سازی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اعداد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پارامترها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(مثلاً از ۱۶ بیت به ۴ بیت) تا حجم مدل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کوچک‌تر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شود.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مثل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فشرده‌سازی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یک عکس: کیفیت کمی کاهش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می‌یابد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اما فضای بسیار کمتری اشغال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چرا مهم است؟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بدون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حتی مدل ۳۰ میلیاردی هم به بیش از ۶۰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حافظه نیاز دارد؛ با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۴ بیتی این مقدار به حدود ۱۵-۲۰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می‌رسد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روی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جا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هزینه: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کاهش دقت ممکن است باعث افت جزئی در کیفیت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پاسخ‌ها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شود، مخصوصاً در اصطلاحات حساس مالی.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468A6-3F73-9A70-E687-9F2E5C2A5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82" b="4761"/>
          <a:stretch/>
        </p:blipFill>
        <p:spPr>
          <a:xfrm>
            <a:off x="1218129" y="2026604"/>
            <a:ext cx="3819815" cy="284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97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1C843-E09C-284A-FD3C-9D75E2E43D67}"/>
              </a:ext>
            </a:extLst>
          </p:cNvPr>
          <p:cNvSpPr txBox="1"/>
          <p:nvPr/>
        </p:nvSpPr>
        <p:spPr>
          <a:xfrm>
            <a:off x="5255822" y="137100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مفاهیم کلیدی در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مدل‌های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زبانی — پارامتر،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کوانتیزاسیون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، 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KV-Cache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B887A-D452-C7EE-0938-3EB8708EB711}"/>
              </a:ext>
            </a:extLst>
          </p:cNvPr>
          <p:cNvSpPr txBox="1"/>
          <p:nvPr/>
        </p:nvSpPr>
        <p:spPr>
          <a:xfrm>
            <a:off x="6096000" y="2026604"/>
            <a:ext cx="52578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en-US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 KV-Cache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حافظه کلید-مقدار) </a:t>
            </a:r>
          </a:p>
          <a:p>
            <a:pPr marL="285750" marR="0" lvl="0" indent="-285750" algn="just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حافظه‌ای موقتی که مدل برای نگهداری متن مکالمه جاری (کلمه‌های قبلی) استفاده می‌کند تا بتواند پاسخ بعدی را بسازد.</a:t>
            </a:r>
          </a:p>
          <a:p>
            <a:pPr marL="285750" marR="0" lvl="0" indent="-285750" algn="just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مانند دفترچه یادداشت مدل در طول مکالمه: هرچه گفتگو طولانی‌تر شود، این دفترچه بزرگ‌تر می‌شود.</a:t>
            </a:r>
          </a:p>
          <a:p>
            <a:pPr marL="285750" marR="0" lvl="0" indent="-285750" algn="just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چالش: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اگر مکالمه خیلی طولانی شود یا چند کاربر همزمان از سیستم استفاده کنند،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KV-Cache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ممکن است حافظه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GPU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را پر کند و سرعت پاسخ‌دهی به‌شدت کاهش یابد.</a:t>
            </a:r>
          </a:p>
          <a:p>
            <a:pPr marL="285750" marR="0" lvl="0" indent="-285750" algn="just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راه‌حل: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باید اندازه آن را مدیریت کنیم (مثلاً محدود کردن طول مکالمه یا استفاده از تکنیک‌های بهینه‌سازی) تا سیستم پایدار بماند.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300445-0489-DF10-50B5-13CF44460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6" r="9261"/>
          <a:stretch/>
        </p:blipFill>
        <p:spPr>
          <a:xfrm>
            <a:off x="838200" y="2030606"/>
            <a:ext cx="3998523" cy="285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8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1C843-E09C-284A-FD3C-9D75E2E43D67}"/>
              </a:ext>
            </a:extLst>
          </p:cNvPr>
          <p:cNvSpPr txBox="1"/>
          <p:nvPr/>
        </p:nvSpPr>
        <p:spPr>
          <a:xfrm>
            <a:off x="5255822" y="137100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محاسبه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حافظه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مورد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نیاز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)</a:t>
            </a:r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۳۰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میلیارد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پارامتری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(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ED2D977-E4A3-D8F5-E34E-E07E5F6C5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" t="19701" r="1758" b="2509"/>
          <a:stretch/>
        </p:blipFill>
        <p:spPr>
          <a:xfrm>
            <a:off x="314325" y="2584082"/>
            <a:ext cx="5346244" cy="24436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2090898-3356-06E9-695E-053C65687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681" y="1740333"/>
            <a:ext cx="3067478" cy="657317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94D0D4E-C487-559B-C7FB-672BC9B8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376673"/>
              </p:ext>
            </p:extLst>
          </p:nvPr>
        </p:nvGraphicFramePr>
        <p:xfrm>
          <a:off x="5810250" y="2584081"/>
          <a:ext cx="6067425" cy="2443629"/>
        </p:xfrm>
        <a:graphic>
          <a:graphicData uri="http://schemas.openxmlformats.org/drawingml/2006/table">
            <a:tbl>
              <a:tblPr rtl="1">
                <a:tableStyleId>{616DA210-FB5B-4158-B5E0-FEB733F419BA}</a:tableStyleId>
              </a:tblPr>
              <a:tblGrid>
                <a:gridCol w="2022475">
                  <a:extLst>
                    <a:ext uri="{9D8B030D-6E8A-4147-A177-3AD203B41FA5}">
                      <a16:colId xmlns:a16="http://schemas.microsoft.com/office/drawing/2014/main" val="1252731898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663001105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3569265673"/>
                    </a:ext>
                  </a:extLst>
                </a:gridCol>
              </a:tblGrid>
              <a:tr h="743713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فرمت </a:t>
                      </a:r>
                      <a:r>
                        <a:rPr lang="fa-IR" sz="1400" b="1" dirty="0" err="1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کوانتیزیشن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>
                    <a:solidFill>
                      <a:srgbClr val="6E00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مقدار حافظه خام (بدون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overhead)</a:t>
                      </a:r>
                    </a:p>
                  </a:txBody>
                  <a:tcPr anchor="ctr">
                    <a:solidFill>
                      <a:srgbClr val="6E00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مقدار نهایی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)</a:t>
                      </a:r>
                      <a:r>
                        <a:rPr lang="fa-IR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با ۲۰٪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(overhead</a:t>
                      </a:r>
                      <a:endParaRPr lang="fa-IR" sz="1400" b="1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>
                    <a:solidFill>
                      <a:srgbClr val="6E0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47501"/>
                  </a:ext>
                </a:extLst>
              </a:tr>
              <a:tr h="424979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۳۲ بیت (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FP32</a:t>
                      </a:r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)</a:t>
                      </a:r>
                      <a:endParaRPr lang="en-US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۱۲۰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۱۴۴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2809030"/>
                  </a:ext>
                </a:extLst>
              </a:tr>
              <a:tr h="424979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۱۶ بیت 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(FP16 / BF16)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۶۰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۷۲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126019"/>
                  </a:ext>
                </a:extLst>
              </a:tr>
              <a:tr h="424979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۸ بیت 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(INT8)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۳۰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۳۶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431736"/>
                  </a:ext>
                </a:extLst>
              </a:tr>
              <a:tr h="424979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۴ بیت (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(INT4 / NF4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۱۵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۱۸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359327"/>
                  </a:ext>
                </a:extLst>
              </a:tr>
            </a:tbl>
          </a:graphicData>
        </a:graphic>
      </p:graphicFrame>
      <p:sp>
        <p:nvSpPr>
          <p:cNvPr id="39" name="Rectangle 1">
            <a:extLst>
              <a:ext uri="{FF2B5EF4-FFF2-40B4-BE49-F238E27FC236}">
                <a16:creationId xmlns:a16="http://schemas.microsoft.com/office/drawing/2014/main" id="{D9BE671F-FDAC-96F4-8D60-0DB6C2A4D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742715"/>
            <a:ext cx="4981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مدل </a:t>
            </a:r>
            <a:r>
              <a:rPr kumimoji="0" lang="fa-I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۳۰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میلیارد پارامتری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P = 30,000,000,000</a:t>
            </a:r>
            <a:r>
              <a:rPr kumimoji="0" lang="ar-S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)، 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مقدار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VRAM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موردنیاز برای کوانتیزیشنهای رایج به این صورت است: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5FD70E-C3EE-0A98-F3D4-F05846DFDCBE}"/>
              </a:ext>
            </a:extLst>
          </p:cNvPr>
          <p:cNvCxnSpPr/>
          <p:nvPr/>
        </p:nvCxnSpPr>
        <p:spPr>
          <a:xfrm>
            <a:off x="314325" y="5142016"/>
            <a:ext cx="1145412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1CB2758-0431-2BFE-ED94-BA30B5F3EC95}"/>
              </a:ext>
            </a:extLst>
          </p:cNvPr>
          <p:cNvSpPr txBox="1"/>
          <p:nvPr/>
        </p:nvSpPr>
        <p:spPr>
          <a:xfrm>
            <a:off x="921698" y="5256323"/>
            <a:ext cx="10239375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این اعداد فقط مربوط به وزن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های مدل هستند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حافظه موردنیاز برای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KV Cache</a:t>
            </a:r>
            <a:r>
              <a:rPr lang="en-US" sz="1400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فعالسازی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های لایه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ها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خود موتور اجرایی (مثل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PyTorch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یا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TensorRT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را شامل نمیشوند. در عمل، برای پردازش دنباله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های طولانی (مثلاً متن چند هزار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)، باید چند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تا ده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اضافه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تر به این اعداد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بیافزایید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  <a:endParaRPr lang="fa-IR" sz="1400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7279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E464A-3477-F8B3-0B35-04198BA4F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55262"/>
              </p:ext>
            </p:extLst>
          </p:nvPr>
        </p:nvGraphicFramePr>
        <p:xfrm>
          <a:off x="1258528" y="1433378"/>
          <a:ext cx="9674944" cy="233445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18736">
                  <a:extLst>
                    <a:ext uri="{9D8B030D-6E8A-4147-A177-3AD203B41FA5}">
                      <a16:colId xmlns:a16="http://schemas.microsoft.com/office/drawing/2014/main" val="885491087"/>
                    </a:ext>
                  </a:extLst>
                </a:gridCol>
                <a:gridCol w="2418736">
                  <a:extLst>
                    <a:ext uri="{9D8B030D-6E8A-4147-A177-3AD203B41FA5}">
                      <a16:colId xmlns:a16="http://schemas.microsoft.com/office/drawing/2014/main" val="3609632301"/>
                    </a:ext>
                  </a:extLst>
                </a:gridCol>
                <a:gridCol w="2418736">
                  <a:extLst>
                    <a:ext uri="{9D8B030D-6E8A-4147-A177-3AD203B41FA5}">
                      <a16:colId xmlns:a16="http://schemas.microsoft.com/office/drawing/2014/main" val="3724509287"/>
                    </a:ext>
                  </a:extLst>
                </a:gridCol>
                <a:gridCol w="2418736">
                  <a:extLst>
                    <a:ext uri="{9D8B030D-6E8A-4147-A177-3AD203B41FA5}">
                      <a16:colId xmlns:a16="http://schemas.microsoft.com/office/drawing/2014/main" val="1274407715"/>
                    </a:ext>
                  </a:extLst>
                </a:gridCol>
              </a:tblGrid>
              <a:tr h="46689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روش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6E00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مقدار حافظه مورد نیاز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6E00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افت کیفیت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6E003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امکان استفاده روی یک </a:t>
                      </a: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H200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6E0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13539"/>
                  </a:ext>
                </a:extLst>
              </a:tr>
              <a:tr h="4668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۳۲ بیت (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FP32</a:t>
                      </a:r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)</a:t>
                      </a:r>
                      <a:endParaRPr lang="en-US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۱۴۴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بدون افت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❌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8990835"/>
                  </a:ext>
                </a:extLst>
              </a:tr>
              <a:tr h="4668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۱۶ بیت 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(FP16 / BF16)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۷۲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افت کم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dirty="0">
                          <a:effectLst/>
                        </a:rPr>
                        <a:t>✅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2899407"/>
                  </a:ext>
                </a:extLst>
              </a:tr>
              <a:tr h="4668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۸ بیت 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(INT8)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۳۶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افت متوسط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dirty="0">
                          <a:effectLst/>
                        </a:rPr>
                        <a:t>✅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9451393"/>
                  </a:ext>
                </a:extLst>
              </a:tr>
              <a:tr h="4668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۴ بیت (</a:t>
                      </a:r>
                      <a:r>
                        <a:rPr lang="en-US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(INT4 / NF4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dirty="0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۱۸ </a:t>
                      </a:r>
                      <a:r>
                        <a:rPr lang="fa-IR" sz="1400" b="1" dirty="0" err="1"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گیگابایت</a:t>
                      </a:r>
                      <a:endParaRPr lang="fa-IR" sz="1400" b="1" dirty="0"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افت زیاد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en-US" sz="1600" dirty="0">
                          <a:effectLst/>
                        </a:rPr>
                        <a:t>✅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73452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0BA871-44B6-A1E1-BFF1-336B72C4A36C}"/>
              </a:ext>
            </a:extLst>
          </p:cNvPr>
          <p:cNvSpPr txBox="1"/>
          <p:nvPr/>
        </p:nvSpPr>
        <p:spPr>
          <a:xfrm>
            <a:off x="1740310" y="3948337"/>
            <a:ext cx="871138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افت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کیفیت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بیشتر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به‌ویژه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کارهای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تخصصی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مالی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→ </a:t>
            </a:r>
            <a:r>
              <a:rPr lang="fa-IR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هرچه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شدیدتر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007FF7-7166-6C80-1B4C-8CD480312A94}"/>
              </a:ext>
            </a:extLst>
          </p:cNvPr>
          <p:cNvCxnSpPr>
            <a:cxnSpLocks/>
          </p:cNvCxnSpPr>
          <p:nvPr/>
        </p:nvCxnSpPr>
        <p:spPr>
          <a:xfrm>
            <a:off x="1258528" y="4644082"/>
            <a:ext cx="967494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35BA82-5D9A-330E-97BA-24A7719521E4}"/>
              </a:ext>
            </a:extLst>
          </p:cNvPr>
          <p:cNvSpPr txBox="1"/>
          <p:nvPr/>
        </p:nvSpPr>
        <p:spPr>
          <a:xfrm>
            <a:off x="1543665" y="4630096"/>
            <a:ext cx="8908025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⚠️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نکته</a:t>
            </a:r>
            <a:r>
              <a:rPr lang="en-US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حیاتی</a:t>
            </a:r>
            <a:r>
              <a:rPr lang="fa-IR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 </a:t>
            </a:r>
          </a:p>
          <a:p>
            <a:pPr algn="ctr" rtl="1">
              <a:lnSpc>
                <a:spcPct val="150000"/>
              </a:lnSpc>
            </a:pPr>
            <a:r>
              <a:rPr lang="fa-IR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جدول بالا برای یک مدل با حدود 30 میلیارد پارامتر است و استفاده از مدلهای با تعداد پارامتر بیشتر یک چالش سخت افزاری جدی است و بنابراین، مقایسه عملکرد مدلهای مختلف با تعداد پارامتر پایین گام اساسی شروع پروژه است.</a:t>
            </a:r>
            <a:endParaRPr lang="en-US" b="1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2581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292343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مدلهای 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Mixture of Experts (</a:t>
            </a:r>
            <a:r>
              <a:rPr lang="en-US" b="1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MoE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8E061D-5B99-36AE-E3BB-00E475C2A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0"/>
          <a:stretch/>
        </p:blipFill>
        <p:spPr>
          <a:xfrm>
            <a:off x="838200" y="1252538"/>
            <a:ext cx="5006113" cy="4701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F539AF-72FF-5B4F-7C84-1587345F3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03" t="62522" r="11462" b="21678"/>
          <a:stretch/>
        </p:blipFill>
        <p:spPr>
          <a:xfrm>
            <a:off x="6985000" y="3429000"/>
            <a:ext cx="4076700" cy="2343150"/>
          </a:xfrm>
          <a:prstGeom prst="rect">
            <a:avLst/>
          </a:prstGeom>
          <a:ln w="31750">
            <a:solidFill>
              <a:srgbClr val="7097C3"/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B4909-4C42-A8DB-D74B-DE1A0D2045C7}"/>
              </a:ext>
            </a:extLst>
          </p:cNvPr>
          <p:cNvCxnSpPr>
            <a:cxnSpLocks/>
          </p:cNvCxnSpPr>
          <p:nvPr/>
        </p:nvCxnSpPr>
        <p:spPr>
          <a:xfrm flipV="1">
            <a:off x="5269706" y="3429000"/>
            <a:ext cx="1715294" cy="6405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96EDA7-D306-F49B-6E6A-051CE9CB8FE9}"/>
              </a:ext>
            </a:extLst>
          </p:cNvPr>
          <p:cNvCxnSpPr>
            <a:cxnSpLocks/>
          </p:cNvCxnSpPr>
          <p:nvPr/>
        </p:nvCxnSpPr>
        <p:spPr>
          <a:xfrm>
            <a:off x="5224463" y="4862286"/>
            <a:ext cx="1760537" cy="909864"/>
          </a:xfrm>
          <a:prstGeom prst="line">
            <a:avLst/>
          </a:prstGeom>
          <a:ln>
            <a:solidFill>
              <a:srgbClr val="709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1">
            <a:extLst>
              <a:ext uri="{FF2B5EF4-FFF2-40B4-BE49-F238E27FC236}">
                <a16:creationId xmlns:a16="http://schemas.microsoft.com/office/drawing/2014/main" id="{F0CC7572-5149-8F49-50B2-3BCFE3BA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367" y="1733973"/>
            <a:ext cx="519143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معماری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به جای یک شبکه واحد بزرگ، مدل از چندین زیرشبکه مستقل به نام «متخصص»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Expert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 تشکیل شده است. یک شبکه کوچک به نام روتر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Router / Gating Network</a:t>
            </a:r>
            <a:r>
              <a:rPr kumimoji="0" lang="ar-S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 برای هر توکن تصمیم می‌گیرد کدام متخصص‌ها فعال شوند و خروجی آن‌ها را با وزن‌های مشخص ترکیب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3344676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292343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مدلهای 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Mixture of Experts (</a:t>
            </a:r>
            <a:r>
              <a:rPr lang="en-US" b="1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MoE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)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294FAB-2E00-69A6-FC4B-383A283C1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" t="39922" r="2661" b="26556"/>
          <a:stretch/>
        </p:blipFill>
        <p:spPr>
          <a:xfrm>
            <a:off x="2777613" y="1661675"/>
            <a:ext cx="6636774" cy="13182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BB3FED-DB8D-3175-AF2F-77814A97DFC0}"/>
              </a:ext>
            </a:extLst>
          </p:cNvPr>
          <p:cNvSpPr txBox="1"/>
          <p:nvPr/>
        </p:nvSpPr>
        <p:spPr>
          <a:xfrm>
            <a:off x="1307690" y="3349270"/>
            <a:ext cx="9507793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گام ۱ - ورود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پرسش کاربر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توکن‌سازی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شده و وارد مدل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گام ۲ -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امتیازدهی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روتر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روتر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(یک شبکه عصبی کوچک) برای هر ۸ متخصص، امتیاز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مرتبط‌بودن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محاسبه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گام ۳ -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فعال‌سازی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 </a:t>
            </a:r>
            <a:r>
              <a:rPr lang="en-US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Top-K </a:t>
            </a:r>
            <a:r>
              <a:rPr lang="fa-IR" sz="1600" b="1" dirty="0"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(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نقطه کلیدی اسلاید)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فقط ۲ متخصص با بیشترین امتیاز فعال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؛ ۶ متخصص دیگر کاملاً خاموش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می‌مانند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 این همان راز کارایی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محاسباتی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است.</a:t>
            </a: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گام ۴ - ترکیب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وزن‌دار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خروجی دو متخصص فعال ساده جمع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نمی‌شود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؛ بلکه با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وزن‌هایی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متناسب با امتیاز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روتر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w₂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w₅)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ترکیب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گام ۵ - خروجی نهایی: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پاسخ تولید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؛ از دید کاربر، گویی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کلِ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مدل پاسخ داده است.</a:t>
            </a:r>
          </a:p>
        </p:txBody>
      </p:sp>
    </p:spTree>
    <p:extLst>
      <p:ext uri="{BB962C8B-B14F-4D97-AF65-F5344CB8AC3E}">
        <p14:creationId xmlns:p14="http://schemas.microsoft.com/office/powerpoint/2010/main" val="319066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292343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مدلهای 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Mixture of Experts (</a:t>
            </a:r>
            <a:r>
              <a:rPr lang="en-US" b="1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MoE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)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741706-76DD-FAD0-6815-1AB571D1D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614960"/>
              </p:ext>
            </p:extLst>
          </p:nvPr>
        </p:nvGraphicFramePr>
        <p:xfrm>
          <a:off x="1351935" y="3360198"/>
          <a:ext cx="9488130" cy="24998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44065">
                  <a:extLst>
                    <a:ext uri="{9D8B030D-6E8A-4147-A177-3AD203B41FA5}">
                      <a16:colId xmlns:a16="http://schemas.microsoft.com/office/drawing/2014/main" val="1965286157"/>
                    </a:ext>
                  </a:extLst>
                </a:gridCol>
                <a:gridCol w="4744065">
                  <a:extLst>
                    <a:ext uri="{9D8B030D-6E8A-4147-A177-3AD203B41FA5}">
                      <a16:colId xmlns:a16="http://schemas.microsoft.com/office/drawing/2014/main" val="3475529263"/>
                    </a:ext>
                  </a:extLst>
                </a:gridCol>
              </a:tblGrid>
              <a:tr h="569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 </a:t>
                      </a:r>
                      <a:r>
                        <a:rPr lang="fa-IR" sz="20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معایب</a:t>
                      </a:r>
                      <a:endParaRPr lang="fa-IR" sz="20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</a:t>
                      </a:r>
                      <a:r>
                        <a:rPr lang="fa-IR" sz="20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مزایا</a:t>
                      </a:r>
                      <a:endParaRPr lang="fa-IR" sz="20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291386"/>
                  </a:ext>
                </a:extLst>
              </a:tr>
              <a:tr h="463563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حافظه بالا برای ذخیره همه متخصص‌ها (فعال و غیرفعال)</a:t>
                      </a:r>
                      <a:endParaRPr lang="fa-IR" sz="1800" b="0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ظرفیت یادگیری بالا بدون افزایش متناسب محاسبات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extLst>
                  <a:ext uri="{0D108BD9-81ED-4DB2-BD59-A6C34878D82A}">
                    <a16:rowId xmlns:a16="http://schemas.microsoft.com/office/drawing/2014/main" val="2030988787"/>
                  </a:ext>
                </a:extLst>
              </a:tr>
              <a:tr h="463563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پیچیدگی در موازی‌سازی چند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GPU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سرعت استنتاج بالاتر در </a:t>
                      </a:r>
                      <a:r>
                        <a:rPr lang="fa-IR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تک‌نمونه</a:t>
                      </a:r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(پارامتر فعال کم)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extLst>
                  <a:ext uri="{0D108BD9-81ED-4DB2-BD59-A6C34878D82A}">
                    <a16:rowId xmlns:a16="http://schemas.microsoft.com/office/drawing/2014/main" val="4076697222"/>
                  </a:ext>
                </a:extLst>
              </a:tr>
              <a:tr h="616634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تأخیر متغیر به دلیل </a:t>
                      </a:r>
                      <a:r>
                        <a:rPr lang="fa-IR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بارگذاری</a:t>
                      </a:r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</a:t>
                      </a:r>
                      <a:r>
                        <a:rPr lang="fa-IR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متخصص‌ها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کیفیت نزدیک به مدل 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 </a:t>
                      </a:r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بزرگ با هزینه </a:t>
                      </a:r>
                      <a:r>
                        <a:rPr lang="fa-IR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محاسباتی</a:t>
                      </a:r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کمتر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extLst>
                  <a:ext uri="{0D108BD9-81ED-4DB2-BD59-A6C34878D82A}">
                    <a16:rowId xmlns:a16="http://schemas.microsoft.com/office/drawing/2014/main" val="1043252862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بهینه برای 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batch </a:t>
                      </a:r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بزرگ، نه چت </a:t>
                      </a:r>
                      <a:r>
                        <a:rPr lang="fa-IR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تک‌کاربره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مقیاس‌پذیری</a:t>
                      </a:r>
                      <a:r>
                        <a:rPr lang="fa-IR" sz="1800" b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بهتر در آموزش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875" marR="8875" marT="8875" marB="0" anchor="ctr"/>
                </a:tc>
                <a:extLst>
                  <a:ext uri="{0D108BD9-81ED-4DB2-BD59-A6C34878D82A}">
                    <a16:rowId xmlns:a16="http://schemas.microsoft.com/office/drawing/2014/main" val="134823104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E294FAB-2E00-69A6-FC4B-383A283C1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" t="39922" r="2661" b="26556"/>
          <a:stretch/>
        </p:blipFill>
        <p:spPr>
          <a:xfrm>
            <a:off x="2777613" y="1661675"/>
            <a:ext cx="6636774" cy="131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5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292343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مدلهای 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Mixture of Experts (</a:t>
            </a:r>
            <a:r>
              <a:rPr lang="en-US" b="1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MoE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)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741706-76DD-FAD0-6815-1AB571D1D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0289"/>
              </p:ext>
            </p:extLst>
          </p:nvPr>
        </p:nvGraphicFramePr>
        <p:xfrm>
          <a:off x="1351935" y="1741467"/>
          <a:ext cx="9581535" cy="305973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93845">
                  <a:extLst>
                    <a:ext uri="{9D8B030D-6E8A-4147-A177-3AD203B41FA5}">
                      <a16:colId xmlns:a16="http://schemas.microsoft.com/office/drawing/2014/main" val="3475529263"/>
                    </a:ext>
                  </a:extLst>
                </a:gridCol>
                <a:gridCol w="3193845">
                  <a:extLst>
                    <a:ext uri="{9D8B030D-6E8A-4147-A177-3AD203B41FA5}">
                      <a16:colId xmlns:a16="http://schemas.microsoft.com/office/drawing/2014/main" val="478848840"/>
                    </a:ext>
                  </a:extLst>
                </a:gridCol>
                <a:gridCol w="3193845">
                  <a:extLst>
                    <a:ext uri="{9D8B030D-6E8A-4147-A177-3AD203B41FA5}">
                      <a16:colId xmlns:a16="http://schemas.microsoft.com/office/drawing/2014/main" val="2825719203"/>
                    </a:ext>
                  </a:extLst>
                </a:gridCol>
              </a:tblGrid>
              <a:tr h="610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MoE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معیار</a:t>
                      </a: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291386"/>
                  </a:ext>
                </a:extLst>
              </a:tr>
              <a:tr h="460034"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۱۰۰.۰۰%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۱۰–۲۵٪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پارامتر فعال در هر </a:t>
                      </a:r>
                      <a:r>
                        <a:rPr lang="fa-I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توکن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0988787"/>
                  </a:ext>
                </a:extLst>
              </a:tr>
              <a:tr h="497295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متناسب با کل پارامتر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متناسب با کل پارامتر (همه متخصص‌ها)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حافظه لازم برای </a:t>
                      </a:r>
                      <a:r>
                        <a:rPr lang="fa-I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وزن‌ها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6697222"/>
                  </a:ext>
                </a:extLst>
              </a:tr>
              <a:tr h="661505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بالا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پایین‌تر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هزینه </a:t>
                      </a:r>
                      <a:r>
                        <a:rPr lang="fa-I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محاسباتی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3252862"/>
                  </a:ext>
                </a:extLst>
              </a:tr>
              <a:tr h="4151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</a:t>
                      </a:r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ثابت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⚠️ متغیر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پیش‌بینی‌پذیری</a:t>
                      </a: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تأخیر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8231048"/>
                  </a:ext>
                </a:extLst>
              </a:tr>
              <a:tr h="4151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</a:t>
                      </a: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ساده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 </a:t>
                      </a: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پیچیده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سهولت استقرار روی یک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GPU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26911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8098A3-3BC6-1C32-AE93-670DCBBCD0F2}"/>
              </a:ext>
            </a:extLst>
          </p:cNvPr>
          <p:cNvSpPr txBox="1"/>
          <p:nvPr/>
        </p:nvSpPr>
        <p:spPr>
          <a:xfrm>
            <a:off x="1248697" y="5149870"/>
            <a:ext cx="9488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پیام کلیدی: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ارزان‌تر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نظر محاسبات است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اما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ارزان‌تر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نظر حافظه نیست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؛ و در محیط مالی که 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ثبات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پاسخ‌دهی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حیاتی است، تأخیر متغیر آن یک ریسک جدی محسوب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  <a:endParaRPr lang="en-US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82DB44-090D-5650-75C7-61642F2EB37D}"/>
              </a:ext>
            </a:extLst>
          </p:cNvPr>
          <p:cNvCxnSpPr>
            <a:cxnSpLocks/>
          </p:cNvCxnSpPr>
          <p:nvPr/>
        </p:nvCxnSpPr>
        <p:spPr>
          <a:xfrm>
            <a:off x="1258528" y="4994170"/>
            <a:ext cx="967494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426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292343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مدلهای 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Mixture of Experts (</a:t>
            </a:r>
            <a:r>
              <a:rPr lang="en-US" b="1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MoE</a:t>
            </a:r>
            <a:r>
              <a:rPr lang="en-US" b="1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B7128-3A49-BF11-EB6B-77912B21007E}"/>
              </a:ext>
            </a:extLst>
          </p:cNvPr>
          <p:cNvSpPr txBox="1"/>
          <p:nvPr/>
        </p:nvSpPr>
        <p:spPr>
          <a:xfrm>
            <a:off x="924232" y="2000297"/>
            <a:ext cx="1042956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معماری‌های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(Mixture of Experts)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وجود پارامتر کل زیاد، 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هر مرحله فقط تعداد محدودی از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را فعال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 این معماری از نظر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محاسباتی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کارآمد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است، اما 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حافظه مورد نیاز برای نگهداری تمام پارامترهای کل مدل (حتی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غیرفعال‌ها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 همچنان بالاست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 بنابراین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بزرگ مانند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۱۰۰ میلیارد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پارامتری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عملاً بر روی یک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 اجرا نیستند، مگر با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شدید که باز هم کیفیت را قربانی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می‌کند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just" rtl="1">
              <a:lnSpc>
                <a:spcPct val="150000"/>
              </a:lnSpc>
            </a:pPr>
            <a:endParaRPr lang="fa-IR" sz="16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نتیجه اینکه انتخاب ما محدود به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است که: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تعداد پارامتر کل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آن‌ها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حداکثر حدود ۳۰ میلیارد باشد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ترجیحاً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Dense)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).</a:t>
            </a:r>
            <a:endParaRPr lang="en-US" sz="16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۴ یا ۸ بیتی بر روی یک </a:t>
            </a:r>
            <a:r>
              <a:rPr lang="en-US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جا شوند.</a:t>
            </a:r>
          </a:p>
          <a:p>
            <a:pPr marL="342900" indent="-342900"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کیفیت کافی برای پاسخگویی به سوالات مالی حساس را حفظ کنند.</a:t>
            </a:r>
          </a:p>
        </p:txBody>
      </p:sp>
    </p:spTree>
    <p:extLst>
      <p:ext uri="{BB962C8B-B14F-4D97-AF65-F5344CB8AC3E}">
        <p14:creationId xmlns:p14="http://schemas.microsoft.com/office/powerpoint/2010/main" val="536219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en-US" b="1" dirty="0">
                <a:effectLst/>
              </a:rPr>
              <a:t>🌍 </a:t>
            </a:r>
            <a:r>
              <a:rPr lang="fa-IR" b="1" dirty="0">
                <a:effectLst/>
              </a:rPr>
              <a:t>بازیگران اصلی اکوسیستم </a:t>
            </a:r>
            <a:r>
              <a:rPr lang="fa-IR" b="1" dirty="0" err="1">
                <a:effectLst/>
              </a:rPr>
              <a:t>مدل‌های</a:t>
            </a:r>
            <a:r>
              <a:rPr lang="fa-IR" b="1" dirty="0">
                <a:effectLst/>
              </a:rPr>
              <a:t> باز (حداکثر تعداد پارامتر حدود 70 میلیارد)</a:t>
            </a:r>
            <a:endParaRPr lang="en-US" b="1" dirty="0">
              <a:effectLst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3700AF-18F4-DBB2-496A-6BB65482C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437027"/>
              </p:ext>
            </p:extLst>
          </p:nvPr>
        </p:nvGraphicFramePr>
        <p:xfrm>
          <a:off x="1346200" y="1194055"/>
          <a:ext cx="9550400" cy="444251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102349615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111285118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128701777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251519819"/>
                    </a:ext>
                  </a:extLst>
                </a:gridCol>
              </a:tblGrid>
              <a:tr h="554465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شرکت</a:t>
                      </a:r>
                      <a:endParaRPr lang="fa-IR" sz="18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کشور</a:t>
                      </a:r>
                      <a:endParaRPr lang="fa-IR" sz="18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 err="1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مدل‌های</a:t>
                      </a:r>
                      <a:r>
                        <a:rPr lang="fa-IR" sz="18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کاندید</a:t>
                      </a:r>
                      <a:endParaRPr lang="fa-IR" sz="18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بازه پارامتر</a:t>
                      </a:r>
                      <a:endParaRPr lang="fa-IR" sz="18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99804"/>
                  </a:ext>
                </a:extLst>
              </a:tr>
              <a:tr h="3994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Meta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آمریکا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 3.1 8B / Llama 3.3 70B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8–70B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3232299342"/>
                  </a:ext>
                </a:extLst>
              </a:tr>
              <a:tr h="7915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Alibaba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چین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2.5 (7B/14B/32B) / </a:t>
                      </a:r>
                      <a:r>
                        <a:rPr lang="en-US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3 (8B/14B/32B)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7–32B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3167753654"/>
                  </a:ext>
                </a:extLst>
              </a:tr>
              <a:tr h="6608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Mistral AI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فرانسه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Mistral 7B / Nemo 12B / </a:t>
                      </a:r>
                      <a:r>
                        <a:rPr lang="en-US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Mixtral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8x7B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7–47B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1499098507"/>
                  </a:ext>
                </a:extLst>
              </a:tr>
              <a:tr h="6608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DeepSeek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چین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R1-Distill Qwen-32B / R1-Distill Llama-70B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32–70B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2945880443"/>
                  </a:ext>
                </a:extLst>
              </a:tr>
              <a:tr h="2687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Google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آمریکا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Gemma 3 (12B/27B)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12–27B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791145615"/>
                  </a:ext>
                </a:extLst>
              </a:tr>
              <a:tr h="2687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Microsoft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آمریکا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Phi-4 (14B)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14B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1127572614"/>
                  </a:ext>
                </a:extLst>
              </a:tr>
              <a:tr h="5301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Cohere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کانادا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Aya 23 (8B/35B) / Command R (35B)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8–35B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3419825113"/>
                  </a:ext>
                </a:extLst>
              </a:tr>
              <a:tr h="2687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IBM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آمریکا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Granite 3.1 8B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8B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7425" marR="7425" marT="7425" marB="0" anchor="ctr"/>
                </a:tc>
                <a:extLst>
                  <a:ext uri="{0D108BD9-81ED-4DB2-BD59-A6C34878D82A}">
                    <a16:rowId xmlns:a16="http://schemas.microsoft.com/office/drawing/2014/main" val="195017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826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292343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انتخاب بهترین مدل 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LLM</a:t>
            </a:r>
            <a:endParaRPr lang="en-US" b="1" dirty="0">
              <a:latin typeface="w_Ray Black" panose="02000500000000020004" pitchFamily="2" charset="-78"/>
              <a:ea typeface="w_Ray Black" panose="02000500000000020004" pitchFamily="2" charset="-78"/>
              <a:cs typeface="w_Ray Black" panose="02000500000000020004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F16B8AC8-32C0-1224-2D95-AD0D54231E9A}"/>
              </a:ext>
            </a:extLst>
          </p:cNvPr>
          <p:cNvSpPr txBox="1"/>
          <p:nvPr/>
        </p:nvSpPr>
        <p:spPr>
          <a:xfrm>
            <a:off x="5268138" y="2000297"/>
            <a:ext cx="608566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زبانی توسط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شرکت‌ها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سازمان‌های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مختلفی توسعه داده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می‌شوند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 هر کدام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سیاست‌های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متفاوتی در مورد مجوز استفاده تجاری، دسترسی به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شفافیت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داده‌های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آموزشی و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به‌روزرسانی‌ها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دارند. برخی از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مهم‌ترین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شرکت‌ها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6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آن‌ها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عبارتند از:</a:t>
            </a:r>
          </a:p>
        </p:txBody>
      </p:sp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21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7886B394-4FBF-B6AD-A678-4E992EDC80EB}"/>
              </a:ext>
            </a:extLst>
          </p:cNvPr>
          <p:cNvSpPr/>
          <p:nvPr/>
        </p:nvSpPr>
        <p:spPr>
          <a:xfrm>
            <a:off x="4847303" y="1367746"/>
            <a:ext cx="6817619" cy="4806912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661675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1055257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Qwen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(Alibaba)</a:t>
            </a:r>
            <a:endParaRPr lang="en-US" b="1" dirty="0">
              <a:latin typeface="w_Ray Black" panose="02000500000000020004" pitchFamily="2" charset="-78"/>
              <a:ea typeface="w_Ray Black" panose="02000500000000020004" pitchFamily="2" charset="-78"/>
              <a:cs typeface="w_Ray Black" panose="02000500000000020004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530304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024055"/>
            <a:ext cx="952159" cy="279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0EF175-731C-E6CE-F160-ED3DDB1ECC4B}"/>
              </a:ext>
            </a:extLst>
          </p:cNvPr>
          <p:cNvSpPr txBox="1"/>
          <p:nvPr/>
        </p:nvSpPr>
        <p:spPr>
          <a:xfrm>
            <a:off x="5257800" y="1481784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1.5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2 (0.5B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تا 72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2.5 (0.5B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تا 72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3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صورت انتشار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باز)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Apache 2.0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برخی تحت مجوز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Research License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استفاده تجاری مجاز است اما برای 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بزرگ‌تر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ممکن است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محدودیت‌هایی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وجود داشته باشد.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7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B، 14B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32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گزینه‌های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ایده‌آلی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هستند.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2.5 32B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حدود 18-20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حافظه نیاز دارد و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یک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72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کوانتیزه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نیز قابل اجراست اما حافظه بیشتری مصرف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خوب. خانواده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به‌طور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ویژه روی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چندزبانگی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جمله فارسی آموزش دیده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توکنایزر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آن برای فارسی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بهینه‌تر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 و کلمات فارسی به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کمتری تبدیل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یکی از بهترین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گزینه‌ها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 ترکیب پشتیبانی قوی فارسی،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اندازه‌های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متنوع و کیفیت خوب در وظایف استدلالی،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2.5 14B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یا 32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را به کاندیدای اصلی تبدیل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حوزه مالی، نیاز به تست روی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داده‌های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داخلی داریم اما احتمال موفقیت بالاست.</a:t>
            </a:r>
          </a:p>
        </p:txBody>
      </p:sp>
    </p:spTree>
    <p:extLst>
      <p:ext uri="{BB962C8B-B14F-4D97-AF65-F5344CB8AC3E}">
        <p14:creationId xmlns:p14="http://schemas.microsoft.com/office/powerpoint/2010/main" val="3775960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59C4D16E-C63E-A5ED-0C4E-CD6D295A246B}"/>
              </a:ext>
            </a:extLst>
          </p:cNvPr>
          <p:cNvSpPr/>
          <p:nvPr/>
        </p:nvSpPr>
        <p:spPr>
          <a:xfrm>
            <a:off x="4847303" y="1367746"/>
            <a:ext cx="6817619" cy="4806912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650763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4E4B4-6C8C-0202-CECE-116001A8188D}"/>
              </a:ext>
            </a:extLst>
          </p:cNvPr>
          <p:cNvSpPr txBox="1"/>
          <p:nvPr/>
        </p:nvSpPr>
        <p:spPr>
          <a:xfrm>
            <a:off x="8219768" y="998414"/>
            <a:ext cx="31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Zhipu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Ai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(چین)—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مدل‌های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GLM</a:t>
            </a:r>
            <a:endParaRPr lang="en-US" b="1" dirty="0">
              <a:latin typeface="w_Ray Black" panose="02000500000000020004" pitchFamily="2" charset="-78"/>
              <a:ea typeface="w_Ray Black" panose="02000500000000020004" pitchFamily="2" charset="-78"/>
              <a:cs typeface="w_Ray Black" panose="02000500000000020004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1950150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51939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A5EAB1-422A-BDCF-CFAE-0A82BC0E9364}"/>
              </a:ext>
            </a:extLst>
          </p:cNvPr>
          <p:cNvSpPr txBox="1"/>
          <p:nvPr/>
        </p:nvSpPr>
        <p:spPr>
          <a:xfrm>
            <a:off x="5257800" y="1403388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GLM-4 (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مختلف)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GLM-4-9B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 باز با 9 میلیارد پارامتر)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GLM-4V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چندوجهی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r" rtl="1"/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مانند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GLM-4-9B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تحت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Apache 2.0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منتشر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شده‌اند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قابل دانلود و استفاده تجاری مجاز است.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  GLM-4-9B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سبک است و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یک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  اندازه کوچک، حافظه و محاسبات کمی نیاز دارد.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  ضعیف. تمرکز اصلی بر چینی و انگلیسی بوده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  برای زبان فارسی تقریباً هیچ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بهینه‌سازی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خاصی انجام نشده و کیفیت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پاسخ‌ها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 فارسی نامناسب است.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  به دلیل پشتیبانی ضعیف فارسی، گزینه مناسبی نیست.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  اگر پروژه فقط چینی/انگلیسی بود،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می‌توانست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 عنوان گزینه سبک مطرح شود، اما در شرایط فعلی حذف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797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AD553837-2D70-D40D-CCA3-FC37D08314C0}"/>
              </a:ext>
            </a:extLst>
          </p:cNvPr>
          <p:cNvSpPr/>
          <p:nvPr/>
        </p:nvSpPr>
        <p:spPr>
          <a:xfrm>
            <a:off x="4847303" y="1367746"/>
            <a:ext cx="6817619" cy="4491840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663426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532055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1862849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515E9-5180-1DAA-687F-2DA971389DD5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Google 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(ایالات متحده)—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مدل‌های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b="1" dirty="0">
                <a:effectLst/>
              </a:rPr>
              <a:t>Gemma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1EAB5-8A2C-CCF4-037B-45D5594A939A}"/>
              </a:ext>
            </a:extLst>
          </p:cNvPr>
          <p:cNvSpPr txBox="1"/>
          <p:nvPr/>
        </p:nvSpPr>
        <p:spPr>
          <a:xfrm>
            <a:off x="5257800" y="1403388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(2B, 7B)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2 (9B, 27B)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3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صورت انتشار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باز تا 27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B)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Terms of Use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- استفاده تجاری مجاز است اما 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محدودیت‌ها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دارد (مانند ممنوعیت استفاده برای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سیستم‌های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نظارتی خودکار بدون نظارت انسانی).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 صورت عمومی در دسترس است و اجرای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امکان‌پذیر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2 9B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سبک و سریع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2 27B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حدود 16-18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حافظه نیاز دارد و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یک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متوسط. در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جدیدتر بهبود یافته اما به اندازه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یا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قوی نیست.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توکنایزر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فارسی نسبتاً کارآمد است، اما کیفیت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پاسخ‌ها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 زبان فارسی ممکن است گاهی نامناسب باشد.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گزینه قابل قبول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به‌ویژه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Gemma 2 27B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که تعادل خوبی بین اندازه و کیفیت دارد.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اما چون پشتیبانی فارسی آن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ضعیف‌تر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است، در اولویت دوم تا سوم قرار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می‌گیرد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مزیت آن سادگی استقرار و مجوز نسبتاً شفاف است.</a:t>
            </a:r>
          </a:p>
        </p:txBody>
      </p:sp>
    </p:spTree>
    <p:extLst>
      <p:ext uri="{BB962C8B-B14F-4D97-AF65-F5344CB8AC3E}">
        <p14:creationId xmlns:p14="http://schemas.microsoft.com/office/powerpoint/2010/main" val="56357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7AD1A9A5-7504-A27E-A57F-B194672C3159}"/>
              </a:ext>
            </a:extLst>
          </p:cNvPr>
          <p:cNvSpPr/>
          <p:nvPr/>
        </p:nvSpPr>
        <p:spPr>
          <a:xfrm>
            <a:off x="4847303" y="1367746"/>
            <a:ext cx="6817619" cy="4806912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08587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394395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Meta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42373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57FB49-10A8-B207-6DC9-4CEB3EF62571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Meta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(شرکت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فیسبوک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):</a:t>
            </a:r>
            <a:endParaRPr lang="en-US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337CA-D0B3-DAFD-1892-512C9B461F02}"/>
              </a:ext>
            </a:extLst>
          </p:cNvPr>
          <p:cNvSpPr txBox="1"/>
          <p:nvPr/>
        </p:nvSpPr>
        <p:spPr>
          <a:xfrm>
            <a:off x="5257800" y="1403388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2 (7B, 13B, 70B)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3 (8B, 70B)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3.1 (8B, 70B, 405B)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3.2 (1B, 3B, 11B, 90B)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نیمه‌باز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Community License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استفاده تجاری مجاز است، اما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محدودیت‌هایی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مانند ممنوعیت استفاده برای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مدل‌سازی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رقیب یا نقض قوانین دارد.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8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روی یک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70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نیز از نظر حافظه قابل اجراست، اما ریسک پر شدن حافظه در مکالمات طولانی وجود دارد.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405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عملاً قابل استفاده نیست.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متوسط.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توکنایزر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فارسی 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به‌صورت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بهینه پردازش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نمی‌کند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هر کلمه فارسی ممکن است به چند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تبدیل شود که سرعت و حافظه را افزایش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می‌دهد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کاربرد جدی فارسی، معمولاً نیاز به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fine-tuning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روی داده فارسی 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گزینه قابل قبول، اما نه بهترین برای فارسی. اگر از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RAG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fine-tuning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سبک استفاده شود،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می‌تواند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کار کند.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8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از نظر سرعت و پایداری گزینه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امن‌تری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نسبت به 70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کوانتیزه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است.</a:t>
            </a:r>
          </a:p>
        </p:txBody>
      </p:sp>
    </p:spTree>
    <p:extLst>
      <p:ext uri="{BB962C8B-B14F-4D97-AF65-F5344CB8AC3E}">
        <p14:creationId xmlns:p14="http://schemas.microsoft.com/office/powerpoint/2010/main" val="777006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70268A90-C443-3C92-A2AC-3CC53BFB3915}"/>
              </a:ext>
            </a:extLst>
          </p:cNvPr>
          <p:cNvSpPr/>
          <p:nvPr/>
        </p:nvSpPr>
        <p:spPr>
          <a:xfrm>
            <a:off x="4847303" y="1367746"/>
            <a:ext cx="6817619" cy="4296770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01447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397007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45633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5AD9A-8403-596A-DE99-837FA18B1EE6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Moonshot AI 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(چین) — </a:t>
            </a:r>
            <a:r>
              <a:rPr lang="fa-IR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مدل‌های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Kimi</a:t>
            </a:r>
            <a:endParaRPr lang="en-US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6B06E-38EB-F9EA-7510-07E3C946F067}"/>
              </a:ext>
            </a:extLst>
          </p:cNvPr>
          <p:cNvSpPr txBox="1"/>
          <p:nvPr/>
        </p:nvSpPr>
        <p:spPr>
          <a:xfrm>
            <a:off x="5257800" y="1403388"/>
            <a:ext cx="6096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Kimi K1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 اولیه)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Kimi K2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تا 2400 میلیارد پارامتر — یکی از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بزرگ‌ترین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جهان)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 صورت عمومی منتشر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نشده‌اند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فقط از طریق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API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سرویس ابری) در دسترس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 استفاده تجاری از طریق قرارداد با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Moonshot AI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انجام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عملاً غیرممکن. حتی اگر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در دسترس بود، 2400 میلیارد پارامتر نیاز به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ده‌ها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کارت گرافیک پیشرفته و زیرساخت عظیم دارد.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یک یا دو کارت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حتی برای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نیز کافی نیست (حجم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بیش از 1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ترابایت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خواهد بود).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نامشخص، اما به دلیل تمرکز بر بازار چین، احتمالاً پشتیبانی فارسی قوی ندارد.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کاملاً غیرقابل استفاده به دلیل بسته بودن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نیاز به اتصال ابری (نقض الزام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آفلاین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 و اندازه غیرقابل تصور.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این مدل صرفاً به عنوان مثال از مقیاس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بزرگ مطرح شد تا نشان دهد محدودیت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سخت‌افزاری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ما چقدر جدی است.</a:t>
            </a:r>
          </a:p>
        </p:txBody>
      </p:sp>
    </p:spTree>
    <p:extLst>
      <p:ext uri="{BB962C8B-B14F-4D97-AF65-F5344CB8AC3E}">
        <p14:creationId xmlns:p14="http://schemas.microsoft.com/office/powerpoint/2010/main" val="190891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CB5391B2-5001-5AED-0946-F403DA6DC1C9}"/>
              </a:ext>
            </a:extLst>
          </p:cNvPr>
          <p:cNvSpPr/>
          <p:nvPr/>
        </p:nvSpPr>
        <p:spPr>
          <a:xfrm>
            <a:off x="4847303" y="1367746"/>
            <a:ext cx="6817619" cy="4081326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01447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397007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43996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4877AB-033F-96E5-9C79-22645DC2A1A9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Mistral AI 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(فرانسه)</a:t>
            </a:r>
            <a:endParaRPr lang="en-US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24D756-90B5-74F7-E7DF-261CCF225624}"/>
              </a:ext>
            </a:extLst>
          </p:cNvPr>
          <p:cNvSpPr txBox="1"/>
          <p:nvPr/>
        </p:nvSpPr>
        <p:spPr>
          <a:xfrm>
            <a:off x="5257800" y="140338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Mistral 7B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Mixtral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8x7B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معماری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47 میلیارد پارامتر کل، 13 میلیارد فعال)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Mistral Small / Medium / Large (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جدیدتر)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Apache 2.0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اکثر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— کاملاً باز و مناسب استفاده تجاری بدون نگرانی حقوقی.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Mistral 7B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سبک است و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Mixtral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8x7B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حدود 25 تا 30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حافظه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می‌گیرد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روی یک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 اجراست، اما به دلیل معماری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مدیریت حافظه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پیچیده‌تر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ضعیف‌تر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از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تمرکز اصلی بر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زبان‌های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اروپایی (فرانسوی، آلمانی، انگلیسی) بوده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فارسی، نیاز به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fine-tuning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گسترده دارد و حتی پس از آن ممکن است کیفیت مطلوب نرسد.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 دلیل پشتیبانی ضعیف فارسی، گزینه اول نیست.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اگر فقط به زبان انگلیسی یا متون اروپایی نیاز داشتیم، گزینه خوبی بود.</a:t>
            </a:r>
          </a:p>
        </p:txBody>
      </p:sp>
    </p:spTree>
    <p:extLst>
      <p:ext uri="{BB962C8B-B14F-4D97-AF65-F5344CB8AC3E}">
        <p14:creationId xmlns:p14="http://schemas.microsoft.com/office/powerpoint/2010/main" val="793562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9534AF1D-E6F4-A261-2AE1-1FF8CD51845A}"/>
              </a:ext>
            </a:extLst>
          </p:cNvPr>
          <p:cNvSpPr/>
          <p:nvPr/>
        </p:nvSpPr>
        <p:spPr>
          <a:xfrm>
            <a:off x="4847303" y="1367746"/>
            <a:ext cx="6817619" cy="4806912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484239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352868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849079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1551F5-5E5E-1A90-E458-73905348942F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en-US" dirty="0" err="1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DeepSeek</a:t>
            </a:r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(چین)</a:t>
            </a:r>
            <a:endParaRPr lang="en-US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9C99C-C5DF-6C4E-AF4D-A35E2953B175}"/>
              </a:ext>
            </a:extLst>
          </p:cNvPr>
          <p:cNvSpPr txBox="1"/>
          <p:nvPr/>
        </p:nvSpPr>
        <p:spPr>
          <a:xfrm>
            <a:off x="5257800" y="1403388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DeepSeek-V2 (236B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 کل، 21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فعال —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DeepSeek-V2-Lite (16B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 کل، 2.4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فعال —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DeepSeek-V3 (671B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 کل)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DeepSeek-R1 (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استدلالی، 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تقطیرشده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کوچک)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MIT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برخی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Apache 2.0 —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باز.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وزن‌های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کوچک به صورت عمومی در دسترس 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DeepSeek-V2-Lite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16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پارامتر کل و معماری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،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پس از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حدود 10-12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حافظه نیاز دارد و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بزرگ‌تر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V2/V3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توجه به تعداد پارامتر کل بسیار بالا عملاً قابل استفاده نیستند.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نسبتاً خوب، اما به اندازه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تست و بهینه نشده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بنچمارک‌های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عمومی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چندزبانه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عملکرد مناسبی دارد اما برای فارسی تخصصی مالی نیاز به ارزیابی دقیق دارد.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گزینه قابل بررسی،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به‌ویژه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کوچک‌تر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که از نظر سرعت ممکن است مزیت داشته باشند.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اما به دلیل عدم قطعیت در کیفیت فارسی و پیچیدگی معماری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MoE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استقرار پایدار، در اولویت دوم پس از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قرار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می‌گیرد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777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4A393943-477D-DC34-051B-BC3313C7E97E}"/>
              </a:ext>
            </a:extLst>
          </p:cNvPr>
          <p:cNvSpPr/>
          <p:nvPr/>
        </p:nvSpPr>
        <p:spPr>
          <a:xfrm>
            <a:off x="4847303" y="1367746"/>
            <a:ext cx="6817619" cy="3642778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482693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35132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83726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501052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285275-BCB0-0531-174F-54B7B0F2ED1F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Mistral AI 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(فرانسه)</a:t>
            </a:r>
            <a:endParaRPr lang="en-US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E5A00-C1B7-D650-F227-64E999B3B5DF}"/>
              </a:ext>
            </a:extLst>
          </p:cNvPr>
          <p:cNvSpPr txBox="1"/>
          <p:nvPr/>
        </p:nvSpPr>
        <p:spPr>
          <a:xfrm>
            <a:off x="5257800" y="1403388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Granite 3.0 (2B, 8B)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Granite Code (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مخصوص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کدنویسی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Granite 3.1 (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جدیدتر)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Apache 2.0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-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کاملاً باز و مناسب سازمانی.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تمرکز ویژه بر امنیت، شفافیت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داده‌های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آموزشی و انطباق با مقررات.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8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سبک هستند و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به‌راحتی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اجرا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اما اندازه کوچک به معنای ظرفیت محدود برای درک مفاهیم پیچیده مالی 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محدود. تمرکز اصلی بر انگلیسی و برخی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زبان‌های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اروپایی بوده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فارسی، تقریباً غیرقابل استفاده بدون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fine-tuning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سنگین که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زمان‌بر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پرهزینه 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 دلیل پشتیبانی ضعیف فارسی و اندازه کوچک، گزینه مناسبی نیست.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تنها مزیت آن شفافیت و مجوز سازمانی است که برای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پروژه‌های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انگلیسی‌زبان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مفید است.</a:t>
            </a:r>
          </a:p>
        </p:txBody>
      </p:sp>
    </p:spTree>
    <p:extLst>
      <p:ext uri="{BB962C8B-B14F-4D97-AF65-F5344CB8AC3E}">
        <p14:creationId xmlns:p14="http://schemas.microsoft.com/office/powerpoint/2010/main" val="909887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B48FE44D-C054-906C-7399-FEA0C7B4BE41}"/>
              </a:ext>
            </a:extLst>
          </p:cNvPr>
          <p:cNvSpPr/>
          <p:nvPr/>
        </p:nvSpPr>
        <p:spPr>
          <a:xfrm>
            <a:off x="4847303" y="1367746"/>
            <a:ext cx="6817619" cy="4394520"/>
          </a:xfrm>
          <a:prstGeom prst="roundRect">
            <a:avLst>
              <a:gd name="adj" fmla="val 4548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E50CBD11-D16D-C940-8E51-F65C28858F4F}"/>
              </a:ext>
            </a:extLst>
          </p:cNvPr>
          <p:cNvSpPr/>
          <p:nvPr/>
        </p:nvSpPr>
        <p:spPr>
          <a:xfrm>
            <a:off x="1895709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E2C581BD-EBBE-E341-B533-D02404BD3BFB}"/>
              </a:ext>
            </a:extLst>
          </p:cNvPr>
          <p:cNvSpPr/>
          <p:nvPr/>
        </p:nvSpPr>
        <p:spPr>
          <a:xfrm>
            <a:off x="527078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dirty="0"/>
              <a:t>تحلیل </a:t>
            </a:r>
            <a:r>
              <a:rPr lang="fa-IR" dirty="0" err="1"/>
              <a:t>محدودیت‌ها</a:t>
            </a:r>
            <a:r>
              <a:rPr lang="fa-IR" dirty="0"/>
              <a:t> و </a:t>
            </a:r>
            <a:r>
              <a:rPr lang="fa-IR" dirty="0" err="1"/>
              <a:t>چالش‌های</a:t>
            </a:r>
            <a:r>
              <a:rPr lang="fa-IR" dirty="0"/>
              <a:t> انتخاب مدل زبانی محلی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C6579-1D28-419C-7175-E01E25B9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117338"/>
            <a:ext cx="443209" cy="443209"/>
          </a:xfrm>
          <a:prstGeom prst="rect">
            <a:avLst/>
          </a:prstGeom>
        </p:spPr>
      </p:pic>
      <p:sp>
        <p:nvSpPr>
          <p:cNvPr id="62" name="TextBox 36">
            <a:extLst>
              <a:ext uri="{FF2B5EF4-FFF2-40B4-BE49-F238E27FC236}">
                <a16:creationId xmlns:a16="http://schemas.microsoft.com/office/drawing/2014/main" id="{9A3020DF-ED67-4C4A-8C41-892FB8739D3F}"/>
              </a:ext>
            </a:extLst>
          </p:cNvPr>
          <p:cNvSpPr txBox="1"/>
          <p:nvPr/>
        </p:nvSpPr>
        <p:spPr>
          <a:xfrm>
            <a:off x="719138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Alibaba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583FB05-073D-F748-BD60-6088CE2E45DE}"/>
              </a:ext>
            </a:extLst>
          </p:cNvPr>
          <p:cNvSpPr txBox="1"/>
          <p:nvPr/>
        </p:nvSpPr>
        <p:spPr>
          <a:xfrm>
            <a:off x="2087769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Zhipu AI 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875D2A6E-87F7-694D-A545-36CE13A910E8}"/>
              </a:ext>
            </a:extLst>
          </p:cNvPr>
          <p:cNvSpPr/>
          <p:nvPr/>
        </p:nvSpPr>
        <p:spPr>
          <a:xfrm>
            <a:off x="3264340" y="1817951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" name="TextBox 38">
            <a:extLst>
              <a:ext uri="{FF2B5EF4-FFF2-40B4-BE49-F238E27FC236}">
                <a16:creationId xmlns:a16="http://schemas.microsoft.com/office/drawing/2014/main" id="{3026D081-36FF-494E-851D-7E6900A21428}"/>
              </a:ext>
            </a:extLst>
          </p:cNvPr>
          <p:cNvSpPr txBox="1"/>
          <p:nvPr/>
        </p:nvSpPr>
        <p:spPr>
          <a:xfrm>
            <a:off x="3456400" y="268658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Google 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2CCB174A-CE50-DE4B-B585-B05E0ADED0C6}"/>
              </a:ext>
            </a:extLst>
          </p:cNvPr>
          <p:cNvSpPr/>
          <p:nvPr/>
        </p:nvSpPr>
        <p:spPr>
          <a:xfrm>
            <a:off x="527078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39">
            <a:extLst>
              <a:ext uri="{FF2B5EF4-FFF2-40B4-BE49-F238E27FC236}">
                <a16:creationId xmlns:a16="http://schemas.microsoft.com/office/drawing/2014/main" id="{894A0D03-EE86-7E43-8199-5908ED54683A}"/>
              </a:ext>
            </a:extLst>
          </p:cNvPr>
          <p:cNvSpPr txBox="1"/>
          <p:nvPr/>
        </p:nvSpPr>
        <p:spPr>
          <a:xfrm>
            <a:off x="719138" y="4034560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Meta</a:t>
            </a:r>
            <a:endParaRPr lang="vi-VN" dirty="0"/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0D313508-1745-5B45-99A4-6B00A150396F}"/>
              </a:ext>
            </a:extLst>
          </p:cNvPr>
          <p:cNvSpPr/>
          <p:nvPr/>
        </p:nvSpPr>
        <p:spPr>
          <a:xfrm>
            <a:off x="1895709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258B08CC-C8FA-984D-A70E-87395520249E}"/>
              </a:ext>
            </a:extLst>
          </p:cNvPr>
          <p:cNvSpPr txBox="1"/>
          <p:nvPr/>
        </p:nvSpPr>
        <p:spPr>
          <a:xfrm>
            <a:off x="1989715" y="4067826"/>
            <a:ext cx="97257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Moonshot AI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F3306D1-2F46-3B4A-8387-A63FDAB14EB1}"/>
              </a:ext>
            </a:extLst>
          </p:cNvPr>
          <p:cNvSpPr/>
          <p:nvPr/>
        </p:nvSpPr>
        <p:spPr>
          <a:xfrm>
            <a:off x="3264340" y="3199197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id="{F8A725DE-30A7-014F-8548-293D991CF3A7}"/>
              </a:ext>
            </a:extLst>
          </p:cNvPr>
          <p:cNvSpPr txBox="1"/>
          <p:nvPr/>
        </p:nvSpPr>
        <p:spPr>
          <a:xfrm>
            <a:off x="3456400" y="4067826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France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C03B6DC2-FF98-154D-ADE2-26C366363FF0}"/>
              </a:ext>
            </a:extLst>
          </p:cNvPr>
          <p:cNvSpPr/>
          <p:nvPr/>
        </p:nvSpPr>
        <p:spPr>
          <a:xfrm>
            <a:off x="543068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id="{076F37F5-7745-A344-99B9-D9E760AC8117}"/>
              </a:ext>
            </a:extLst>
          </p:cNvPr>
          <p:cNvSpPr txBox="1"/>
          <p:nvPr/>
        </p:nvSpPr>
        <p:spPr>
          <a:xfrm>
            <a:off x="735128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China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82" name="Rounded Rectangle 15">
            <a:extLst>
              <a:ext uri="{FF2B5EF4-FFF2-40B4-BE49-F238E27FC236}">
                <a16:creationId xmlns:a16="http://schemas.microsoft.com/office/drawing/2014/main" id="{5272015E-E7AC-A8E4-FF3C-4003559BC356}"/>
              </a:ext>
            </a:extLst>
          </p:cNvPr>
          <p:cNvSpPr/>
          <p:nvPr/>
        </p:nvSpPr>
        <p:spPr>
          <a:xfrm>
            <a:off x="1911696" y="4580443"/>
            <a:ext cx="1160584" cy="1181823"/>
          </a:xfrm>
          <a:prstGeom prst="roundRect">
            <a:avLst>
              <a:gd name="adj" fmla="val 9595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06400" dist="2413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TextBox 42">
            <a:extLst>
              <a:ext uri="{FF2B5EF4-FFF2-40B4-BE49-F238E27FC236}">
                <a16:creationId xmlns:a16="http://schemas.microsoft.com/office/drawing/2014/main" id="{A3167AB3-AE48-FF93-DDB3-BBCAB4F97C43}"/>
              </a:ext>
            </a:extLst>
          </p:cNvPr>
          <p:cNvSpPr txBox="1"/>
          <p:nvPr/>
        </p:nvSpPr>
        <p:spPr>
          <a:xfrm>
            <a:off x="2103756" y="544907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IBM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7C176E-400F-2A8C-66A0-FF02D63A4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603" b="9292"/>
          <a:stretch/>
        </p:blipFill>
        <p:spPr>
          <a:xfrm>
            <a:off x="3489394" y="2017374"/>
            <a:ext cx="710475" cy="562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E746C3-D051-7234-0875-40F9AE57473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24199" r="13885" b="26402"/>
          <a:stretch/>
        </p:blipFill>
        <p:spPr>
          <a:xfrm>
            <a:off x="834785" y="3514342"/>
            <a:ext cx="479468" cy="330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73A14A-8490-F7F7-7052-7C34D06F43F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40" b="33544"/>
          <a:stretch/>
        </p:blipFill>
        <p:spPr>
          <a:xfrm>
            <a:off x="2004008" y="3554084"/>
            <a:ext cx="943985" cy="331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BCEB98-6189-96D2-21BA-955BB9FF1C9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531" y="3537716"/>
            <a:ext cx="854202" cy="326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5E7CB-8723-F1B2-E954-E3762CE5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1" b="35411"/>
          <a:stretch/>
        </p:blipFill>
        <p:spPr>
          <a:xfrm>
            <a:off x="642604" y="4945283"/>
            <a:ext cx="948384" cy="274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19084-F331-682A-EBC3-6F02C9BD5AC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22" y="4935013"/>
            <a:ext cx="789999" cy="344032"/>
          </a:xfrm>
          <a:prstGeom prst="rect">
            <a:avLst/>
          </a:prstGeom>
        </p:spPr>
      </p:pic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6C8E6751-CA98-CD15-1E80-2E6CA7581C93}"/>
              </a:ext>
            </a:extLst>
          </p:cNvPr>
          <p:cNvSpPr/>
          <p:nvPr/>
        </p:nvSpPr>
        <p:spPr>
          <a:xfrm>
            <a:off x="3264340" y="4482693"/>
            <a:ext cx="1160584" cy="1181823"/>
          </a:xfrm>
          <a:prstGeom prst="roundRect">
            <a:avLst>
              <a:gd name="adj" fmla="val 9595"/>
            </a:avLst>
          </a:prstGeom>
          <a:gradFill>
            <a:gsLst>
              <a:gs pos="0">
                <a:srgbClr val="C00000"/>
              </a:gs>
              <a:gs pos="100000">
                <a:srgbClr val="6E00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622300" dist="177800" dir="2700000" algn="tl" rotWithShape="0">
              <a:srgbClr val="5E85CA">
                <a:alpha val="65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42">
            <a:extLst>
              <a:ext uri="{FF2B5EF4-FFF2-40B4-BE49-F238E27FC236}">
                <a16:creationId xmlns:a16="http://schemas.microsoft.com/office/drawing/2014/main" id="{0BC4DCF1-280B-B399-1054-630006978542}"/>
              </a:ext>
            </a:extLst>
          </p:cNvPr>
          <p:cNvSpPr txBox="1"/>
          <p:nvPr/>
        </p:nvSpPr>
        <p:spPr>
          <a:xfrm>
            <a:off x="3456400" y="5351322"/>
            <a:ext cx="77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Cohere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AI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24770-7A83-C1FB-5EF8-1FDBC1498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24" b="23249"/>
          <a:stretch/>
        </p:blipFill>
        <p:spPr>
          <a:xfrm>
            <a:off x="3456400" y="4912774"/>
            <a:ext cx="790909" cy="215445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4FEC78A-E537-9AB2-4093-EF375A9101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569" y="2180331"/>
            <a:ext cx="952159" cy="2792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CF8E2A-4DF6-0455-FC0D-0A977E7114F9}"/>
              </a:ext>
            </a:extLst>
          </p:cNvPr>
          <p:cNvSpPr txBox="1"/>
          <p:nvPr/>
        </p:nvSpPr>
        <p:spPr>
          <a:xfrm>
            <a:off x="7590503" y="998414"/>
            <a:ext cx="376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 Mistral AI </a:t>
            </a:r>
            <a:r>
              <a:rPr lang="fa-IR" dirty="0">
                <a:latin typeface="w_Ray Black" panose="02000500000000020004" pitchFamily="2" charset="-78"/>
                <a:ea typeface="w_Ray Black" panose="02000500000000020004" pitchFamily="2" charset="-78"/>
                <a:cs typeface="w_Ray Black" panose="02000500000000020004" pitchFamily="2" charset="-78"/>
              </a:rPr>
              <a:t>(فرانسه)</a:t>
            </a:r>
            <a:endParaRPr lang="en-US" b="1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D8D9A-6357-F93C-B5A5-653100B5D518}"/>
              </a:ext>
            </a:extLst>
          </p:cNvPr>
          <p:cNvSpPr txBox="1"/>
          <p:nvPr/>
        </p:nvSpPr>
        <p:spPr>
          <a:xfrm>
            <a:off x="5257800" y="1403388"/>
            <a:ext cx="6096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مدل‌های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شاخص: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23 (8B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35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Expanse (8B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32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Command R (35B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و 110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B)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مجوز: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نسخه‌های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23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مجوز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Cohere Non-Commercial License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برخی و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Commercial License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نسخه سازمانی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استفاده تجاری نیاز به توافق جداگانه دارد.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قابلیت اجرای </a:t>
            </a:r>
            <a:r>
              <a:rPr lang="fa-IR" sz="14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لوکال</a:t>
            </a:r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روی </a:t>
            </a:r>
            <a:r>
              <a:rPr lang="en-US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H200:</a:t>
            </a:r>
            <a:endParaRPr lang="en-US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23 8B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بسیار سبک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23 35B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با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کوانتیزاسیون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4 بیتی حدود 20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گیگابایت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حافظه نیاز دارد و روی یک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H200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قابل اجراست.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پشتیبانی از فارسی:</a:t>
            </a:r>
            <a:endParaRPr lang="fa-IR" sz="1400" dirty="0">
              <a:effectLst/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خوب تا خیلی خوب. مدل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Aya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به‌طور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خاص برای 23 زبان از جمله فارسی طراحی شده است.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توکنایزر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و آموزش روی داده فارسی انجام شده و عملکرد بهتری نسبت به 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فارسی دارد.</a:t>
            </a:r>
          </a:p>
          <a:p>
            <a:pPr algn="just" rtl="1"/>
            <a:r>
              <a:rPr lang="fa-IR" sz="14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مناسب بودن برای پروژه ما: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گزینه قابل قبول، اما چالش مجوز تجاری و اندازه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کوچک‌تر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مدل (35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در مقابل </a:t>
            </a:r>
            <a:r>
              <a:rPr lang="en-US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Qwen</a:t>
            </a:r>
            <a:r>
              <a:rPr lang="en-US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32B 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مشابه) ممکن است قدرت استدلال کمتری در حوزه مالی داشته باشد.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اگر مجوز تجاری شفاف شود، </a:t>
            </a:r>
            <a:r>
              <a:rPr lang="fa-IR" sz="14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می‌تواند</a:t>
            </a:r>
            <a:r>
              <a:rPr lang="fa-IR" sz="14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کاندیدای جایگزین باشد.</a:t>
            </a:r>
          </a:p>
        </p:txBody>
      </p:sp>
    </p:spTree>
    <p:extLst>
      <p:ext uri="{BB962C8B-B14F-4D97-AF65-F5344CB8AC3E}">
        <p14:creationId xmlns:p14="http://schemas.microsoft.com/office/powerpoint/2010/main" val="3054158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>
                <a:effectLst/>
              </a:rPr>
              <a:t>مقایسه فنی: مشخصات، مجوز و حافظه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49718A-320D-5999-C889-BBB051AD9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490572"/>
              </p:ext>
            </p:extLst>
          </p:nvPr>
        </p:nvGraphicFramePr>
        <p:xfrm>
          <a:off x="1026448" y="976575"/>
          <a:ext cx="10139105" cy="457734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89851">
                  <a:extLst>
                    <a:ext uri="{9D8B030D-6E8A-4147-A177-3AD203B41FA5}">
                      <a16:colId xmlns:a16="http://schemas.microsoft.com/office/drawing/2014/main" val="3463501175"/>
                    </a:ext>
                  </a:extLst>
                </a:gridCol>
                <a:gridCol w="1689851">
                  <a:extLst>
                    <a:ext uri="{9D8B030D-6E8A-4147-A177-3AD203B41FA5}">
                      <a16:colId xmlns:a16="http://schemas.microsoft.com/office/drawing/2014/main" val="516091907"/>
                    </a:ext>
                  </a:extLst>
                </a:gridCol>
                <a:gridCol w="1422115">
                  <a:extLst>
                    <a:ext uri="{9D8B030D-6E8A-4147-A177-3AD203B41FA5}">
                      <a16:colId xmlns:a16="http://schemas.microsoft.com/office/drawing/2014/main" val="219232326"/>
                    </a:ext>
                  </a:extLst>
                </a:gridCol>
                <a:gridCol w="1422493">
                  <a:extLst>
                    <a:ext uri="{9D8B030D-6E8A-4147-A177-3AD203B41FA5}">
                      <a16:colId xmlns:a16="http://schemas.microsoft.com/office/drawing/2014/main" val="2193448526"/>
                    </a:ext>
                  </a:extLst>
                </a:gridCol>
                <a:gridCol w="1493030">
                  <a:extLst>
                    <a:ext uri="{9D8B030D-6E8A-4147-A177-3AD203B41FA5}">
                      <a16:colId xmlns:a16="http://schemas.microsoft.com/office/drawing/2014/main" val="1820247339"/>
                    </a:ext>
                  </a:extLst>
                </a:gridCol>
                <a:gridCol w="2421765">
                  <a:extLst>
                    <a:ext uri="{9D8B030D-6E8A-4147-A177-3AD203B41FA5}">
                      <a16:colId xmlns:a16="http://schemas.microsoft.com/office/drawing/2014/main" val="258225477"/>
                    </a:ext>
                  </a:extLst>
                </a:gridCol>
              </a:tblGrid>
              <a:tr h="33127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پارامتر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معماری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Context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حافظه (4-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bit)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مجوز تجاری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678456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 3.1 8B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۵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Community*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2349619198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 3.3 70B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70B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۴۰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Community*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3506992950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 2.5 32B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32B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۱۹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(</a:t>
                      </a:r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برخی </a:t>
                      </a:r>
                      <a:r>
                        <a:rPr lang="fa-IR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سایزها</a:t>
                      </a:r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مشروط)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1092653997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 3 32B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۱۹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Apache 2.0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2245239652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Mistral Nemo 12B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۸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Apache 2.0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3453638989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Mixtral 8x7B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47B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MoE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32K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۲۸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Apache 2.0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2515067294"/>
                  </a:ext>
                </a:extLst>
              </a:tr>
              <a:tr h="485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DeepSeek-R1-Distill-32B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32B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32K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۱۹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MIT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4102966037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Gemma 3 27B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27B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۱۷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Gemma License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1881526061"/>
                  </a:ext>
                </a:extLst>
              </a:tr>
              <a:tr h="328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Phi-4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14B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16K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۹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MIT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2124456530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Aya 23 35B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35B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۲۱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Apache 2.0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3868838343"/>
                  </a:ext>
                </a:extLst>
              </a:tr>
              <a:tr h="4399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Command 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35B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۲۱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 CC-BY-NC (</a:t>
                      </a:r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(غیرتجاری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2320268243"/>
                  </a:ext>
                </a:extLst>
              </a:tr>
              <a:tr h="331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Granite 3.1 8B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Dense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128K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۵ ~</a:t>
                      </a: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Apache 2.0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6187" marR="6187" marT="6187" marB="0" anchor="ctr"/>
                </a:tc>
                <a:extLst>
                  <a:ext uri="{0D108BD9-81ED-4DB2-BD59-A6C34878D82A}">
                    <a16:rowId xmlns:a16="http://schemas.microsoft.com/office/drawing/2014/main" val="20488020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CAB75A-039F-0A5E-5290-AFEC7621F1E6}"/>
              </a:ext>
            </a:extLst>
          </p:cNvPr>
          <p:cNvSpPr txBox="1"/>
          <p:nvPr/>
        </p:nvSpPr>
        <p:spPr>
          <a:xfrm>
            <a:off x="1026446" y="5625637"/>
            <a:ext cx="10139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«مجوز» یک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بُعد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تصمیم است؛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Command R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یکی از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قوی‌ترین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مدل‌ها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در 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Tool Calling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است اما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به‌دلیل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مجوز غیرتجاری، 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از همان ابتدا حذف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می‌شود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!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مجوز 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Llama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برای استفاده داخلی سازمانی آزاد است (محدودیت فقط برای &gt;۷۰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M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کاربر ماهانه).</a:t>
            </a:r>
            <a:endParaRPr lang="en-US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4118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>
                <a:effectLst/>
              </a:rPr>
              <a:t>مقایسه زبانی: فارسی و </a:t>
            </a:r>
            <a:r>
              <a:rPr lang="fa-IR" b="1" dirty="0" err="1">
                <a:effectLst/>
              </a:rPr>
              <a:t>چندزبانگی</a:t>
            </a:r>
            <a:endParaRPr lang="fa-IR" b="1" dirty="0"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FE3D00-B806-87BE-D8CC-9F4A156B4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48523"/>
              </p:ext>
            </p:extLst>
          </p:nvPr>
        </p:nvGraphicFramePr>
        <p:xfrm>
          <a:off x="1339850" y="1084730"/>
          <a:ext cx="9512300" cy="45043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02460">
                  <a:extLst>
                    <a:ext uri="{9D8B030D-6E8A-4147-A177-3AD203B41FA5}">
                      <a16:colId xmlns:a16="http://schemas.microsoft.com/office/drawing/2014/main" val="2604605680"/>
                    </a:ext>
                  </a:extLst>
                </a:gridCol>
                <a:gridCol w="1902460">
                  <a:extLst>
                    <a:ext uri="{9D8B030D-6E8A-4147-A177-3AD203B41FA5}">
                      <a16:colId xmlns:a16="http://schemas.microsoft.com/office/drawing/2014/main" val="3416045214"/>
                    </a:ext>
                  </a:extLst>
                </a:gridCol>
                <a:gridCol w="1902460">
                  <a:extLst>
                    <a:ext uri="{9D8B030D-6E8A-4147-A177-3AD203B41FA5}">
                      <a16:colId xmlns:a16="http://schemas.microsoft.com/office/drawing/2014/main" val="651830386"/>
                    </a:ext>
                  </a:extLst>
                </a:gridCol>
                <a:gridCol w="1902460">
                  <a:extLst>
                    <a:ext uri="{9D8B030D-6E8A-4147-A177-3AD203B41FA5}">
                      <a16:colId xmlns:a16="http://schemas.microsoft.com/office/drawing/2014/main" val="2793467659"/>
                    </a:ext>
                  </a:extLst>
                </a:gridCol>
                <a:gridCol w="1902460">
                  <a:extLst>
                    <a:ext uri="{9D8B030D-6E8A-4147-A177-3AD203B41FA5}">
                      <a16:colId xmlns:a16="http://schemas.microsoft.com/office/drawing/2014/main" val="926474731"/>
                    </a:ext>
                  </a:extLst>
                </a:gridCol>
              </a:tblGrid>
              <a:tr h="41610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پشتیبانی فارسی</a:t>
                      </a:r>
                      <a:endParaRPr lang="fa-IR" sz="16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چندزبانگی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توکنایزر فارسی</a:t>
                      </a:r>
                      <a:endParaRPr lang="fa-IR" sz="16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نکته کلیدی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567264"/>
                  </a:ext>
                </a:extLst>
              </a:tr>
              <a:tr h="4161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 2.5 / Qwen 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⭐⭐⭐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عالی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۱۱۹ زبان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کارآمد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بهترین گزینه فارسی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4019822"/>
                  </a:ext>
                </a:extLst>
              </a:tr>
              <a:tr h="753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Aya 23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⭐⭐⭐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خوب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۱۰۱ زبان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خوب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طراحی‌شده برای چندزبانگی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274884"/>
                  </a:ext>
                </a:extLst>
              </a:tr>
              <a:tr h="753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DeepSeek R1-Distill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متوسط-خوب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خوب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متوسط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وابسته به مدل پایه (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Qwen/Llama)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2583322"/>
                  </a:ext>
                </a:extLst>
              </a:tr>
              <a:tr h="5805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Gemma 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متوسط-خوب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a-IR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۱۴۰+ زبان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متوسط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پوشش فارسی قابل قبول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0344310"/>
                  </a:ext>
                </a:extLst>
              </a:tr>
              <a:tr h="753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 3.1/3.3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متوسط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۸ زبان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ناکارآمد (۳–۴ توکن/کلمه)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نیاز به 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Fine-tune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1244595"/>
                  </a:ext>
                </a:extLst>
              </a:tr>
              <a:tr h="4161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Mistral / Mixtral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ضعیف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اروپایی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ریسک کیفیت فارسی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9088309"/>
                  </a:ext>
                </a:extLst>
              </a:tr>
              <a:tr h="4161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Phi-4 / Granite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⭐ </a:t>
                      </a:r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ضعیف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محدود</a:t>
                      </a:r>
                      <a:endParaRPr lang="fa-IR" sz="16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انگلیسی‌محور</a:t>
                      </a:r>
                      <a:endParaRPr lang="fa-IR" sz="16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90735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257FDC-C93A-560F-FB35-5A284829F50E}"/>
              </a:ext>
            </a:extLst>
          </p:cNvPr>
          <p:cNvSpPr txBox="1"/>
          <p:nvPr/>
        </p:nvSpPr>
        <p:spPr>
          <a:xfrm>
            <a:off x="1339851" y="5681186"/>
            <a:ext cx="95122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مدل عالی از نظر استدلال (مثل 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Phi-4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)در فارسی ضعیف است؛ مدل عالی در فارسی لزوماً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قوی‌ترین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در 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Tool Calling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نیست. هیچ مدلی در همه ابعاد برنده نیست!</a:t>
            </a:r>
            <a:endParaRPr lang="en-US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2547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>
                <a:effectLst/>
              </a:rPr>
              <a:t>مقایسه </a:t>
            </a:r>
            <a:r>
              <a:rPr lang="fa-IR" b="1" dirty="0" err="1">
                <a:effectLst/>
              </a:rPr>
              <a:t>قابلیت‌ها</a:t>
            </a:r>
            <a:r>
              <a:rPr lang="fa-IR" b="1" dirty="0">
                <a:effectLst/>
              </a:rPr>
              <a:t>: </a:t>
            </a:r>
            <a:r>
              <a:rPr lang="en-US" b="1" dirty="0">
                <a:effectLst/>
              </a:rPr>
              <a:t>Tool Calling، Reasoning، Thinking </a:t>
            </a:r>
            <a:r>
              <a:rPr lang="fa-IR" b="1" dirty="0">
                <a:effectLst/>
              </a:rPr>
              <a:t>و تحلیل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0876DE-8937-F1D0-EC61-53655D9FD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754235"/>
              </p:ext>
            </p:extLst>
          </p:nvPr>
        </p:nvGraphicFramePr>
        <p:xfrm>
          <a:off x="838198" y="1168404"/>
          <a:ext cx="10515603" cy="444581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41350762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4905723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380244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559421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2067804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760302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66367869"/>
                    </a:ext>
                  </a:extLst>
                </a:gridCol>
              </a:tblGrid>
              <a:tr h="354178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</a:t>
                      </a:r>
                      <a:endParaRPr lang="fa-IR" sz="12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Reasoning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حالت </a:t>
                      </a: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Thinking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کدنویسی</a:t>
                      </a:r>
                      <a:endParaRPr lang="fa-IR" sz="12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ریاضی</a:t>
                      </a:r>
                      <a:endParaRPr lang="fa-IR" sz="12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تحلیل اسناد بلند</a:t>
                      </a:r>
                      <a:endParaRPr lang="fa-IR" sz="12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062" marR="9062" marT="9062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532385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Llama 3.3 70B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1489218190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Qwen 2.5 32B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2087372018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Qwen 3 32B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هیبریدی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1075652351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DeepSeek R1-Distill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ضعیف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(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(همیشه فعال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877170272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Command 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⭐⭐⭐⭐ (RAG)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3993513308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Llama 3.1 8B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2411688021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Mistral Nemo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1948352851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Mixtral 8x7B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503606567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Gemma 3 27B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 (+Vision)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3568698489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Phi-4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 (16K)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3038279150"/>
                  </a:ext>
                </a:extLst>
              </a:tr>
              <a:tr h="354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Aya 23 35B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 (8K)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4009520770"/>
                  </a:ext>
                </a:extLst>
              </a:tr>
              <a:tr h="1956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Granite 8B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❌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⭐⭐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⭐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2" marR="9062" marT="9062" marB="0" anchor="ctr"/>
                </a:tc>
                <a:extLst>
                  <a:ext uri="{0D108BD9-81ED-4DB2-BD59-A6C34878D82A}">
                    <a16:rowId xmlns:a16="http://schemas.microsoft.com/office/drawing/2014/main" val="11651288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9E1B985-4527-C8AB-1069-76BD60047B6F}"/>
              </a:ext>
            </a:extLst>
          </p:cNvPr>
          <p:cNvSpPr txBox="1"/>
          <p:nvPr/>
        </p:nvSpPr>
        <p:spPr>
          <a:xfrm>
            <a:off x="973394" y="5697893"/>
            <a:ext cx="10380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حالت </a:t>
            </a:r>
            <a:r>
              <a:rPr lang="en-US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Thinking/Reasoning 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یعنی دقت بیشتر ولی 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تأخیر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چندبرابر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</a:t>
            </a:r>
          </a:p>
          <a:p>
            <a:pPr algn="ctr" rtl="1"/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در </a:t>
            </a:r>
            <a:r>
              <a:rPr lang="fa-IR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چت‌بات</a:t>
            </a:r>
            <a:r>
              <a:rPr lang="fa-IR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تعاملی باید بین «عمق فکر» و «سرعت پاسخ» مصالحه کرد.</a:t>
            </a:r>
            <a:endParaRPr lang="en-US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3740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>
                <a:effectLst/>
              </a:rPr>
              <a:t>نقاط قوت و ضعف هر خانواده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0CBB6C-9241-9C73-E193-90D33346A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16429"/>
              </p:ext>
            </p:extLst>
          </p:nvPr>
        </p:nvGraphicFramePr>
        <p:xfrm>
          <a:off x="973393" y="1240047"/>
          <a:ext cx="10380407" cy="424635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50944">
                  <a:extLst>
                    <a:ext uri="{9D8B030D-6E8A-4147-A177-3AD203B41FA5}">
                      <a16:colId xmlns:a16="http://schemas.microsoft.com/office/drawing/2014/main" val="2333020722"/>
                    </a:ext>
                  </a:extLst>
                </a:gridCol>
                <a:gridCol w="5373971">
                  <a:extLst>
                    <a:ext uri="{9D8B030D-6E8A-4147-A177-3AD203B41FA5}">
                      <a16:colId xmlns:a16="http://schemas.microsoft.com/office/drawing/2014/main" val="398344156"/>
                    </a:ext>
                  </a:extLst>
                </a:gridCol>
                <a:gridCol w="3655492">
                  <a:extLst>
                    <a:ext uri="{9D8B030D-6E8A-4147-A177-3AD203B41FA5}">
                      <a16:colId xmlns:a16="http://schemas.microsoft.com/office/drawing/2014/main" val="539552881"/>
                    </a:ext>
                  </a:extLst>
                </a:gridCol>
              </a:tblGrid>
              <a:tr h="493120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خانواده</a:t>
                      </a:r>
                      <a:endParaRPr lang="fa-IR" sz="16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✅ </a:t>
                      </a:r>
                      <a:r>
                        <a:rPr lang="fa-IR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نقاط قوت</a:t>
                      </a:r>
                      <a:endParaRPr lang="fa-IR" sz="16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❌ </a:t>
                      </a:r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نقاط ضعف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464634"/>
                  </a:ext>
                </a:extLst>
              </a:tr>
              <a:tr h="4204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اکوسیستم و جامعه بزرگ، ابزارهای فراوان،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قوی، مستندات کامل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متوسط،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توکنایزر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ناکارآمد، نیاز به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Fine-tune 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برای فارسی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3121147309"/>
                  </a:ext>
                </a:extLst>
              </a:tr>
              <a:tr h="4769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و چندزبانگی عالی، کد/ریاضی قوی، حالت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Thinking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در نسل ۳، خروجی ساختاریافته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بررسی حقوقی مجوز برخی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سایزها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، جامعه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کوچک‌تر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از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3348021975"/>
                  </a:ext>
                </a:extLst>
              </a:tr>
              <a:tr h="411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Mistral/</a:t>
                      </a:r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Mixtral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مجوز کاملاً باز (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Apache)،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سرعت خوب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ضعیف،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Context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کوتاه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Mixtral،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پیچیدگی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MoE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1337821898"/>
                  </a:ext>
                </a:extLst>
              </a:tr>
              <a:tr h="4535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DeepSeek R1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استدلال و ریاضی برجسته، مجوز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 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ضعیف، تأخیر بالا (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Thinking 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دائمی)، فارسی وابسته به پایه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2777224776"/>
                  </a:ext>
                </a:extLst>
              </a:tr>
              <a:tr h="4323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Gemma 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چندزبانگی گسترده،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Vision، Context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بلند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مجوز با شرایط گوگل، اکوسیستم کوچک‌تر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1671705921"/>
                  </a:ext>
                </a:extLst>
              </a:tr>
              <a:tr h="4323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Phi-4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ریاضی/استدلال عالی نسبت به اندازه، مجوز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MIT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ضعیف،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Context 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کوتاه (16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K)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2169523590"/>
                  </a:ext>
                </a:extLst>
              </a:tr>
              <a:tr h="4323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Aya 23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طراحی‌شده برای چندزبانگی، فارسی خوب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ضعیف در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Calling/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کد،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Context 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کوتاه (8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K)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3360706097"/>
                  </a:ext>
                </a:extLst>
              </a:tr>
              <a:tr h="346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Command 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بهترین در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RAG </a:t>
                      </a:r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و 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مجوز غیرتجاری → حذف از پروژه ما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1790312471"/>
                  </a:ext>
                </a:extLst>
              </a:tr>
              <a:tr h="346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Granite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سازمانی، مناسب کد، مجوز باز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محدود، اندازه کوچک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3863" marR="3863" marT="3863" marB="0" anchor="ctr"/>
                </a:tc>
                <a:extLst>
                  <a:ext uri="{0D108BD9-81ED-4DB2-BD59-A6C34878D82A}">
                    <a16:rowId xmlns:a16="http://schemas.microsoft.com/office/drawing/2014/main" val="1930229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6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>
                <a:effectLst/>
              </a:rPr>
              <a:t>کاربرد بهینه هر مدل: «هر مدل برای چه کاری؟»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901F18-6104-21FB-4F26-287911FBC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052162"/>
              </p:ext>
            </p:extLst>
          </p:nvPr>
        </p:nvGraphicFramePr>
        <p:xfrm>
          <a:off x="673508" y="1168400"/>
          <a:ext cx="10680291" cy="440649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60097">
                  <a:extLst>
                    <a:ext uri="{9D8B030D-6E8A-4147-A177-3AD203B41FA5}">
                      <a16:colId xmlns:a16="http://schemas.microsoft.com/office/drawing/2014/main" val="1414665182"/>
                    </a:ext>
                  </a:extLst>
                </a:gridCol>
                <a:gridCol w="3560097">
                  <a:extLst>
                    <a:ext uri="{9D8B030D-6E8A-4147-A177-3AD203B41FA5}">
                      <a16:colId xmlns:a16="http://schemas.microsoft.com/office/drawing/2014/main" val="2142089898"/>
                    </a:ext>
                  </a:extLst>
                </a:gridCol>
                <a:gridCol w="3560097">
                  <a:extLst>
                    <a:ext uri="{9D8B030D-6E8A-4147-A177-3AD203B41FA5}">
                      <a16:colId xmlns:a16="http://schemas.microsoft.com/office/drawing/2014/main" val="166903932"/>
                    </a:ext>
                  </a:extLst>
                </a:gridCol>
              </a:tblGrid>
              <a:tr h="42362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کاربرد</a:t>
                      </a:r>
                      <a:endParaRPr lang="fa-IR" sz="16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بهترین انتخاب‌ها</a:t>
                      </a:r>
                      <a:endParaRPr lang="fa-IR" sz="16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>
                    <a:solidFill>
                      <a:srgbClr val="9100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6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دلیل</a:t>
                      </a:r>
                      <a:endParaRPr lang="fa-IR" sz="16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>
                    <a:solidFill>
                      <a:srgbClr val="910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827720"/>
                  </a:ext>
                </a:extLst>
              </a:tr>
              <a:tr h="4147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🤖 Tool Calling /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عامل‌های هوشمند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 2.5/3، Llama 3.1+، (Command R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در صورت مجوز)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Fine-tune </a:t>
                      </a:r>
                      <a:r>
                        <a:rPr lang="fa-IR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اختصاصی فراخوانی تابع</a:t>
                      </a:r>
                      <a:endParaRPr lang="fa-IR" sz="14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355621608"/>
                  </a:ext>
                </a:extLst>
              </a:tr>
              <a:tr h="433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🧠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استدلال عمیق / </a:t>
                      </a: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Reasoning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DeepSeek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R1-Distill، </a:t>
                      </a:r>
                      <a:r>
                        <a:rPr lang="en-US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3 (Thinking)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زنجیره فکر داخلی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3583128573"/>
                  </a:ext>
                </a:extLst>
              </a:tr>
              <a:tr h="540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💭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حالت </a:t>
                      </a: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Thinking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قابل کنترل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 3 (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تنها گزینه هیبریدی فکر/بدون فکر)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انعطاف بین سرعت و دقت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4051209751"/>
                  </a:ext>
                </a:extLst>
              </a:tr>
              <a:tr h="433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🌐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پاسخ‌گویی فارسی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 2.5/3، Aya 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داده آموزشی فارسی + </a:t>
                      </a:r>
                      <a:r>
                        <a:rPr lang="fa-IR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توکنایزر</a:t>
                      </a:r>
                      <a:r>
                        <a:rPr lang="fa-IR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کارآمد</a:t>
                      </a:r>
                      <a:endParaRPr lang="fa-IR" sz="14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2186275709"/>
                  </a:ext>
                </a:extLst>
              </a:tr>
              <a:tr h="6470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📄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تحلیل اسناد بلند مالی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Llama 3.3 70B، Gemma 3 27B، Qwen (128K)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Context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بلند + دقت بالا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2994435904"/>
                  </a:ext>
                </a:extLst>
              </a:tr>
              <a:tr h="540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💻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کدنویسی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Qwen2.5-Coder، Granite، DeepSeek-Coder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آموزش اختصاصی کد</a:t>
                      </a:r>
                      <a:endParaRPr lang="fa-IR" sz="14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1091827374"/>
                  </a:ext>
                </a:extLst>
              </a:tr>
              <a:tr h="540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🔢 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محاسبات ریاضی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Phi-4، DeepSeek R1، Qwen2.5-Math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cs typeface="w_Ray" panose="02000500000000020004" pitchFamily="2" charset="-78"/>
                        </a:rPr>
                        <a:t>ベン</a:t>
                      </a:r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چمارک ریاضی برجسته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3796711332"/>
                  </a:ext>
                </a:extLst>
              </a:tr>
              <a:tr h="433418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⚡ منابع محدود / سرعت</a:t>
                      </a:r>
                      <a:endParaRPr lang="fa-IR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Phi-4، Mistral Nemo، Llama 8B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4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سبک و سریع</a:t>
                      </a:r>
                      <a:endParaRPr lang="fa-IR" sz="14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5377" marR="5377" marT="5377" marB="0" anchor="ctr"/>
                </a:tc>
                <a:extLst>
                  <a:ext uri="{0D108BD9-81ED-4DB2-BD59-A6C34878D82A}">
                    <a16:rowId xmlns:a16="http://schemas.microsoft.com/office/drawing/2014/main" val="35872475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E87155-4C30-9D42-2ED2-91E7736A9550}"/>
              </a:ext>
            </a:extLst>
          </p:cNvPr>
          <p:cNvSpPr txBox="1"/>
          <p:nvPr/>
        </p:nvSpPr>
        <p:spPr>
          <a:xfrm>
            <a:off x="838200" y="5766716"/>
            <a:ext cx="10380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پروژه ما </a:t>
            </a:r>
            <a:r>
              <a:rPr lang="fa-IR" sz="1600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هم‌زمان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به 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فارسی عالی </a:t>
            </a:r>
            <a:r>
              <a:rPr lang="en-US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Tool Calling + </a:t>
            </a:r>
            <a:r>
              <a:rPr lang="fa-IR" sz="16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+ تحلیل اسناد بلند + کنترل توهم</a:t>
            </a:r>
            <a:r>
              <a:rPr lang="fa-IR" sz="1600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نیاز دارد — ترکیبی که فقط ۲–۳ مدل آن را با هم دارند!</a:t>
            </a:r>
            <a:endParaRPr lang="en-US" sz="1600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53332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 err="1">
                <a:effectLst/>
              </a:rPr>
              <a:t>هزارتوی</a:t>
            </a:r>
            <a:r>
              <a:rPr lang="fa-IR" b="1" dirty="0">
                <a:effectLst/>
              </a:rPr>
              <a:t> انتخاب: چرا </a:t>
            </a:r>
            <a:r>
              <a:rPr lang="fa-IR" b="1" dirty="0" err="1">
                <a:effectLst/>
              </a:rPr>
              <a:t>تصمیم‌گیری</a:t>
            </a:r>
            <a:r>
              <a:rPr lang="fa-IR" b="1" dirty="0">
                <a:effectLst/>
              </a:rPr>
              <a:t> </a:t>
            </a:r>
            <a:r>
              <a:rPr lang="fa-IR" b="1" dirty="0" err="1">
                <a:effectLst/>
              </a:rPr>
              <a:t>این‌قدر</a:t>
            </a:r>
            <a:r>
              <a:rPr lang="fa-IR" b="1" dirty="0">
                <a:effectLst/>
              </a:rPr>
              <a:t> سخت است؟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2D544-263C-53F5-448B-0278C2B3B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7" r="15988" b="5411"/>
          <a:stretch/>
        </p:blipFill>
        <p:spPr>
          <a:xfrm>
            <a:off x="532171" y="1280556"/>
            <a:ext cx="5496232" cy="429688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83E5B-0FD7-2C19-C5BE-12048BFFAF54}"/>
              </a:ext>
            </a:extLst>
          </p:cNvPr>
          <p:cNvSpPr txBox="1"/>
          <p:nvPr/>
        </p:nvSpPr>
        <p:spPr>
          <a:xfrm>
            <a:off x="6351639" y="1443398"/>
            <a:ext cx="530819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«بهترین مدل» وجود ندارد؛ بهترین مدل برای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محدودیت‌های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ما وجود دارد — و یافتن آن فقط با ارزیابی تجربی روی </a:t>
            </a:r>
            <a:r>
              <a:rPr lang="fa-IR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داده‌های</a:t>
            </a:r>
            <a:r>
              <a:rPr lang="fa-IR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 داخلی ممکن است.</a:t>
            </a:r>
            <a:endParaRPr lang="en-US" b="1" dirty="0">
              <a:latin typeface="w_Ray" panose="02000500000000020004" pitchFamily="2" charset="-78"/>
              <a:ea typeface="w_Ray" panose="02000500000000020004" pitchFamily="2" charset="-78"/>
              <a:cs typeface="w_Ray" panose="02000500000000020004" pitchFamily="2" charset="-7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8CE067-3BD5-4103-6821-43FA9DF21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574964"/>
              </p:ext>
            </p:extLst>
          </p:nvPr>
        </p:nvGraphicFramePr>
        <p:xfrm>
          <a:off x="6459793" y="2838645"/>
          <a:ext cx="5091882" cy="273879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24233">
                  <a:extLst>
                    <a:ext uri="{9D8B030D-6E8A-4147-A177-3AD203B41FA5}">
                      <a16:colId xmlns:a16="http://schemas.microsoft.com/office/drawing/2014/main" val="2945820722"/>
                    </a:ext>
                  </a:extLst>
                </a:gridCol>
                <a:gridCol w="2470355">
                  <a:extLst>
                    <a:ext uri="{9D8B030D-6E8A-4147-A177-3AD203B41FA5}">
                      <a16:colId xmlns:a16="http://schemas.microsoft.com/office/drawing/2014/main" val="2289979068"/>
                    </a:ext>
                  </a:extLst>
                </a:gridCol>
                <a:gridCol w="1697294">
                  <a:extLst>
                    <a:ext uri="{9D8B030D-6E8A-4147-A177-3AD203B41FA5}">
                      <a16:colId xmlns:a16="http://schemas.microsoft.com/office/drawing/2014/main" val="1430822067"/>
                    </a:ext>
                  </a:extLst>
                </a:gridCol>
              </a:tblGrid>
              <a:tr h="424057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مرحله</a:t>
                      </a:r>
                      <a:endParaRPr lang="fa-IR" sz="12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0625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عنوان شکل</a:t>
                      </a:r>
                      <a:endParaRPr lang="fa-IR" sz="12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0625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زیرعنوان</a:t>
                      </a:r>
                      <a:r>
                        <a:rPr lang="fa-IR" sz="12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(توضیح کوتاه)</a:t>
                      </a:r>
                      <a:endParaRPr lang="fa-IR" sz="12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>
                    <a:solidFill>
                      <a:srgbClr val="0625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042456"/>
                  </a:ext>
                </a:extLst>
              </a:tr>
              <a:tr h="630228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گام ۱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۱۰ خانواده مدل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Meta, Qwen, Mistral, DeepSeek...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2157104"/>
                  </a:ext>
                </a:extLst>
              </a:tr>
              <a:tr h="424057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گام ۲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۳× سایز = ۳۰ مدل پایه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8B, 14B, 32B, 70B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6509852"/>
                  </a:ext>
                </a:extLst>
              </a:tr>
              <a:tr h="630228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گام ۳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۴ ×  سطح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کوانتیزاسیون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= ۱۲۰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پیکربندی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FP16, INT8, INT4, AWQ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3586318"/>
                  </a:ext>
                </a:extLst>
              </a:tr>
              <a:tr h="630228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گام ۴</a:t>
                      </a:r>
                      <a:endParaRPr lang="fa-IR" sz="12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۸ × </a:t>
                      </a:r>
                      <a:r>
                        <a:rPr lang="fa-IR" sz="12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بُعد</a:t>
                      </a:r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ارزیابی = ~۱۰۰۰ تست مجزا!</a:t>
                      </a:r>
                      <a:endParaRPr lang="fa-IR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فارسی، </a:t>
                      </a: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Calling، RAG، Reasoning...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5643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575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 err="1">
                <a:effectLst/>
              </a:rPr>
              <a:t>هزارتوی</a:t>
            </a:r>
            <a:r>
              <a:rPr lang="fa-IR" b="1" dirty="0">
                <a:effectLst/>
              </a:rPr>
              <a:t> انتخاب: چرا </a:t>
            </a:r>
            <a:r>
              <a:rPr lang="fa-IR" b="1" dirty="0" err="1">
                <a:effectLst/>
              </a:rPr>
              <a:t>تصمیم‌گیری</a:t>
            </a:r>
            <a:r>
              <a:rPr lang="fa-IR" b="1" dirty="0">
                <a:effectLst/>
              </a:rPr>
              <a:t> </a:t>
            </a:r>
            <a:r>
              <a:rPr lang="fa-IR" b="1" dirty="0" err="1">
                <a:effectLst/>
              </a:rPr>
              <a:t>این‌قدر</a:t>
            </a:r>
            <a:r>
              <a:rPr lang="fa-IR" b="1" dirty="0">
                <a:effectLst/>
              </a:rPr>
              <a:t> سخت است؟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DA61DC-FC22-4178-EF3E-AA557A136FD2}"/>
              </a:ext>
            </a:extLst>
          </p:cNvPr>
          <p:cNvSpPr txBox="1"/>
          <p:nvPr/>
        </p:nvSpPr>
        <p:spPr>
          <a:xfrm>
            <a:off x="6499123" y="1238190"/>
            <a:ext cx="4532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پنج نیروی متضاد که انتخاب را پیچیده </a:t>
            </a:r>
            <a:r>
              <a:rPr lang="fa-IR" sz="20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می‌کنند</a:t>
            </a:r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00B646-98E6-BC9C-9D3E-A880A8263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964249"/>
              </p:ext>
            </p:extLst>
          </p:nvPr>
        </p:nvGraphicFramePr>
        <p:xfrm>
          <a:off x="1278195" y="1938184"/>
          <a:ext cx="9674940" cy="31995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41057">
                  <a:extLst>
                    <a:ext uri="{9D8B030D-6E8A-4147-A177-3AD203B41FA5}">
                      <a16:colId xmlns:a16="http://schemas.microsoft.com/office/drawing/2014/main" val="2006673919"/>
                    </a:ext>
                  </a:extLst>
                </a:gridCol>
                <a:gridCol w="5633883">
                  <a:extLst>
                    <a:ext uri="{9D8B030D-6E8A-4147-A177-3AD203B41FA5}">
                      <a16:colId xmlns:a16="http://schemas.microsoft.com/office/drawing/2014/main" val="3288115937"/>
                    </a:ext>
                  </a:extLst>
                </a:gridCol>
              </a:tblGrid>
              <a:tr h="452992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تضاد</a:t>
                      </a:r>
                      <a:endParaRPr lang="fa-IR" sz="18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>
                    <a:solidFill>
                      <a:srgbClr val="0625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توضیح</a:t>
                      </a:r>
                      <a:endParaRPr lang="fa-IR" sz="18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>
                    <a:solidFill>
                      <a:srgbClr val="0625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54368"/>
                  </a:ext>
                </a:extLst>
              </a:tr>
              <a:tr h="60971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دقت ↔ حافظه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بزرگ‌تر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دقیق‌تر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است، اما روی یک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H200 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جا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نمی‌شود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1678236578"/>
                  </a:ext>
                </a:extLst>
              </a:tr>
              <a:tr h="50904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سرعت ↔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Reasoning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حالت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Thinking </a:t>
                      </a:r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دقیق‌تر است، ولی چند برابر کندتر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1124149296"/>
                  </a:ext>
                </a:extLst>
              </a:tr>
              <a:tr h="50904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↔ قابلیت‌ها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مدل‌های فارسی‌قوی لزوماً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 </a:t>
                      </a:r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قوی ندارند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392917194"/>
                  </a:ext>
                </a:extLst>
              </a:tr>
              <a:tr h="60971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مجوز ↔ کیفیت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برخی بهترین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مدلها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Command R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)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از نظر حقوقی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ممنوع‌اند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1910670849"/>
                  </a:ext>
                </a:extLst>
              </a:tr>
              <a:tr h="50904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بنچمارک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↔ واقعیت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امتیازهای انگلیسی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MMLU 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برای فارسی صادق نیستند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2211249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303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E82-2B79-0E6B-505C-8A95F698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pPr algn="r" rtl="1"/>
            <a:r>
              <a:rPr lang="fa-IR" b="1" dirty="0" err="1">
                <a:effectLst/>
              </a:rPr>
              <a:t>هزارتوی</a:t>
            </a:r>
            <a:r>
              <a:rPr lang="fa-IR" b="1" dirty="0">
                <a:effectLst/>
              </a:rPr>
              <a:t> انتخاب: چرا </a:t>
            </a:r>
            <a:r>
              <a:rPr lang="fa-IR" b="1" dirty="0" err="1">
                <a:effectLst/>
              </a:rPr>
              <a:t>تصمیم‌گیری</a:t>
            </a:r>
            <a:r>
              <a:rPr lang="fa-IR" b="1" dirty="0">
                <a:effectLst/>
              </a:rPr>
              <a:t> </a:t>
            </a:r>
            <a:r>
              <a:rPr lang="fa-IR" b="1" dirty="0" err="1">
                <a:effectLst/>
              </a:rPr>
              <a:t>این‌قدر</a:t>
            </a:r>
            <a:r>
              <a:rPr lang="fa-IR" b="1" dirty="0">
                <a:effectLst/>
              </a:rPr>
              <a:t> سخت است؟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DA61DC-FC22-4178-EF3E-AA557A136FD2}"/>
              </a:ext>
            </a:extLst>
          </p:cNvPr>
          <p:cNvSpPr txBox="1"/>
          <p:nvPr/>
        </p:nvSpPr>
        <p:spPr>
          <a:xfrm>
            <a:off x="6499123" y="1238190"/>
            <a:ext cx="4532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پنج نیروی متضاد که انتخاب را پیچیده </a:t>
            </a:r>
            <a:r>
              <a:rPr lang="fa-IR" sz="2000" b="1" dirty="0" err="1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می‌کنند</a:t>
            </a:r>
            <a:r>
              <a:rPr lang="fa-IR" sz="2000" b="1" dirty="0">
                <a:effectLst/>
                <a:latin typeface="w_Ray" panose="02000500000000020004" pitchFamily="2" charset="-78"/>
                <a:ea typeface="w_Ray" panose="02000500000000020004" pitchFamily="2" charset="-78"/>
                <a:cs typeface="w_Ray" panose="02000500000000020004" pitchFamily="2" charset="-78"/>
              </a:rPr>
              <a:t>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00B646-98E6-BC9C-9D3E-A880A82639CF}"/>
              </a:ext>
            </a:extLst>
          </p:cNvPr>
          <p:cNvGraphicFramePr>
            <a:graphicFrameLocks noGrp="1"/>
          </p:cNvGraphicFramePr>
          <p:nvPr/>
        </p:nvGraphicFramePr>
        <p:xfrm>
          <a:off x="1278195" y="1938184"/>
          <a:ext cx="9674940" cy="31995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41057">
                  <a:extLst>
                    <a:ext uri="{9D8B030D-6E8A-4147-A177-3AD203B41FA5}">
                      <a16:colId xmlns:a16="http://schemas.microsoft.com/office/drawing/2014/main" val="2006673919"/>
                    </a:ext>
                  </a:extLst>
                </a:gridCol>
                <a:gridCol w="5633883">
                  <a:extLst>
                    <a:ext uri="{9D8B030D-6E8A-4147-A177-3AD203B41FA5}">
                      <a16:colId xmlns:a16="http://schemas.microsoft.com/office/drawing/2014/main" val="3288115937"/>
                    </a:ext>
                  </a:extLst>
                </a:gridCol>
              </a:tblGrid>
              <a:tr h="452992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تضاد</a:t>
                      </a:r>
                      <a:endParaRPr lang="fa-IR" sz="1800" b="1" i="0" u="none" strike="noStrike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>
                    <a:solidFill>
                      <a:srgbClr val="06254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chemeClr val="bg1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توضیح</a:t>
                      </a:r>
                      <a:endParaRPr lang="fa-IR" sz="1800" b="1" i="0" u="none" strike="noStrike" dirty="0">
                        <a:solidFill>
                          <a:schemeClr val="bg1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>
                    <a:solidFill>
                      <a:srgbClr val="0625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54368"/>
                  </a:ext>
                </a:extLst>
              </a:tr>
              <a:tr h="60971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دقت ↔ حافظه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بزرگ‌تر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دقیق‌تر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است، اما روی یک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H200 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جا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نمی‌شود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1678236578"/>
                  </a:ext>
                </a:extLst>
              </a:tr>
              <a:tr h="50904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سرعت ↔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Reasoning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حالت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Thinking </a:t>
                      </a:r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دقیق‌تر است، ولی چند برابر کندتر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1124149296"/>
                  </a:ext>
                </a:extLst>
              </a:tr>
              <a:tr h="50904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فارسی ↔ قابلیت‌ها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مدل‌های فارسی‌قوی لزوماً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Tool Calling </a:t>
                      </a:r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قوی ندارند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392917194"/>
                  </a:ext>
                </a:extLst>
              </a:tr>
              <a:tr h="609711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مجوز ↔ کیفیت</a:t>
                      </a:r>
                      <a:endParaRPr lang="fa-IR" sz="1800" b="1" i="0" u="none" strike="noStrike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برخی بهترین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مدلها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(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Command R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)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از نظر حقوقی </a:t>
                      </a:r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ممنوع‌اند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1910670849"/>
                  </a:ext>
                </a:extLst>
              </a:tr>
              <a:tr h="509046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 err="1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بنچمارک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 ↔ واقعیت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امتیازهای انگلیسی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MMLU </a:t>
                      </a:r>
                      <a:r>
                        <a:rPr lang="fa-IR" sz="1800" b="1" u="none" strike="noStrike" dirty="0">
                          <a:solidFill>
                            <a:srgbClr val="000000"/>
                          </a:solidFill>
                          <a:effectLst/>
                          <a:latin typeface="w_Ray" panose="02000500000000020004" pitchFamily="2" charset="-78"/>
                          <a:ea typeface="w_Ray" panose="02000500000000020004" pitchFamily="2" charset="-78"/>
                          <a:cs typeface="w_Ray" panose="02000500000000020004" pitchFamily="2" charset="-78"/>
                        </a:rPr>
                        <a:t>برای فارسی صادق نیستند</a:t>
                      </a:r>
                      <a:endParaRPr lang="fa-IR" sz="1800" b="1" i="0" u="none" strike="noStrike" dirty="0">
                        <a:solidFill>
                          <a:srgbClr val="000000"/>
                        </a:solidFill>
                        <a:effectLst/>
                        <a:latin typeface="w_Ray" panose="02000500000000020004" pitchFamily="2" charset="-78"/>
                        <a:ea typeface="w_Ray" panose="02000500000000020004" pitchFamily="2" charset="-78"/>
                        <a:cs typeface="w_Ray" panose="02000500000000020004" pitchFamily="2" charset="-78"/>
                      </a:endParaRPr>
                    </a:p>
                  </a:txBody>
                  <a:tcPr marL="8233" marR="8233" marT="8233" marB="0" anchor="ctr"/>
                </a:tc>
                <a:extLst>
                  <a:ext uri="{0D108BD9-81ED-4DB2-BD59-A6C34878D82A}">
                    <a16:rowId xmlns:a16="http://schemas.microsoft.com/office/drawing/2014/main" val="2211249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519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4518</Words>
  <Application>Microsoft Office PowerPoint</Application>
  <PresentationFormat>Widescreen</PresentationFormat>
  <Paragraphs>785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Aptos</vt:lpstr>
      <vt:lpstr>Aptos Narrow</vt:lpstr>
      <vt:lpstr>Arial</vt:lpstr>
      <vt:lpstr>Calibri</vt:lpstr>
      <vt:lpstr>Open Sans SemiBold</vt:lpstr>
      <vt:lpstr>w_Ray</vt:lpstr>
      <vt:lpstr>w_Ray Black</vt:lpstr>
      <vt:lpstr>w_Ray Extra Black</vt:lpstr>
      <vt:lpstr>Wingdings</vt:lpstr>
      <vt:lpstr>Office Theme</vt:lpstr>
      <vt:lpstr>PowerPoint Presentation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🌍 بازیگران اصلی اکوسیستم مدل‌های باز (حداکثر تعداد پارامتر حدود 70 میلیارد)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تحلیل محدودیت‌ها و چالش‌های انتخاب مدل زبانی محلی</vt:lpstr>
      <vt:lpstr>مقایسه فنی: مشخصات، مجوز و حافظه</vt:lpstr>
      <vt:lpstr>مقایسه زبانی: فارسی و چندزبانگی</vt:lpstr>
      <vt:lpstr>مقایسه قابلیت‌ها: Tool Calling، Reasoning، Thinking و تحلیل</vt:lpstr>
      <vt:lpstr>نقاط قوت و ضعف هر خانواده</vt:lpstr>
      <vt:lpstr>کاربرد بهینه هر مدل: «هر مدل برای چه کاری؟»</vt:lpstr>
      <vt:lpstr>هزارتوی انتخاب: چرا تصمیم‌گیری این‌قدر سخت است؟</vt:lpstr>
      <vt:lpstr>هزارتوی انتخاب: چرا تصمیم‌گیری این‌قدر سخت است؟</vt:lpstr>
      <vt:lpstr>هزارتوی انتخاب: چرا تصمیم‌گیری این‌قدر سخت است؟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Mahmood Yadegari</dc:creator>
  <cp:lastModifiedBy>Mahmood Yadegari</cp:lastModifiedBy>
  <cp:revision>50</cp:revision>
  <dcterms:created xsi:type="dcterms:W3CDTF">2026-09-02T09:18:55Z</dcterms:created>
  <dcterms:modified xsi:type="dcterms:W3CDTF">2026-09-05T05:01:31Z</dcterms:modified>
</cp:coreProperties>
</file>